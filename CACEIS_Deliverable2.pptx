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Montserrat" pitchFamily="2" charset="77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jk1GMCvQSxqU1drctk3Qibdjw6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10362895" y="411480"/>
            <a:ext cx="1371600" cy="1371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" name="Google Shape;14;p1" descr="/Users/jadkabbaj/Desktop/Projects/AS CACEIS/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8615" y="457200"/>
            <a:ext cx="128016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/>
          <p:nvPr/>
        </p:nvSpPr>
        <p:spPr>
          <a:xfrm>
            <a:off x="914400" y="23774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1200"/>
              <a:buFont typeface="Montserrat"/>
              <a:buNone/>
            </a:pPr>
            <a:r>
              <a:rPr lang="en-US" sz="120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DELIVERABLE 2  ·  HUMAN CAPITAL VALUATION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Montserrat"/>
              <a:buNone/>
            </a:pPr>
            <a:r>
              <a:rPr lang="en-US" sz="54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Valuing Human Capital</a:t>
            </a:r>
            <a:endParaRPr sz="5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914400" y="361188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5400"/>
              <a:buFont typeface="Montserrat"/>
              <a:buNone/>
            </a:pPr>
            <a:r>
              <a:rPr lang="en-US" sz="540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at CACEIS</a:t>
            </a:r>
            <a:endParaRPr sz="5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914400" y="461772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CDCDC"/>
              </a:buClr>
              <a:buSzPts val="1500"/>
              <a:buFont typeface="Montserrat"/>
              <a:buNone/>
            </a:pPr>
            <a:r>
              <a:rPr lang="en-US" sz="1500">
                <a:solidFill>
                  <a:srgbClr val="DCDCDC"/>
                </a:solidFill>
                <a:latin typeface="Montserrat"/>
                <a:ea typeface="Montserrat"/>
                <a:cs typeface="Montserrat"/>
                <a:sym typeface="Montserrat"/>
              </a:rPr>
              <a:t>From cost center to value driver; A 5-KPI framework powered by AI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" name="Google Shape;19;p1"/>
          <p:cNvCxnSpPr/>
          <p:nvPr/>
        </p:nvCxnSpPr>
        <p:spPr>
          <a:xfrm>
            <a:off x="914400" y="5577840"/>
            <a:ext cx="3657600" cy="0"/>
          </a:xfrm>
          <a:prstGeom prst="straightConnector1">
            <a:avLst/>
          </a:prstGeom>
          <a:noFill/>
          <a:ln w="254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" name="Google Shape;20;p1"/>
          <p:cNvSpPr/>
          <p:nvPr/>
        </p:nvSpPr>
        <p:spPr>
          <a:xfrm>
            <a:off x="914400" y="57150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lang="en-US" sz="1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AlbertSchool Hackathon  ·  CACEIS Investor Services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000"/>
              <a:buFont typeface="Montserrat"/>
              <a:buNone/>
            </a:pPr>
            <a:r>
              <a:rPr lang="en-US" sz="1000">
                <a:solidFill>
                  <a:srgbClr val="B5B5B5"/>
                </a:solidFill>
                <a:latin typeface="Montserrat"/>
                <a:ea typeface="Montserrat"/>
                <a:cs typeface="Montserrat"/>
                <a:sym typeface="Montserrat"/>
              </a:rPr>
              <a:t>By Mohamed Jad KABBAJ, Femi FACIA, Jean-Baptiste BRUN, Ilyes KABBOUR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2" descr="/Users/jadkabbaj/Desktop/Projects/AS CACEIS/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7255" y="320040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2"/>
          <p:cNvSpPr/>
          <p:nvPr/>
        </p:nvSpPr>
        <p:spPr>
          <a:xfrm>
            <a:off x="457200" y="411480"/>
            <a:ext cx="73152" cy="1508760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685800" y="457200"/>
            <a:ext cx="1572768" cy="292608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85800" y="457200"/>
            <a:ext cx="15727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lang="en-US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  ·  PROBLEM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85800" y="841248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Montserrat"/>
              <a:buNone/>
            </a:pPr>
            <a:r>
              <a:rPr lang="en-US" sz="280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Reported as a cost. Should be valued as an asset.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85800" y="18288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1250"/>
              <a:buFont typeface="Montserrat"/>
              <a:buNone/>
            </a:pPr>
            <a:r>
              <a:rPr lang="en-US" sz="125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Why standard HR reporting hides the financial value created by people ? And what changes when we measure it properly ?</a:t>
            </a:r>
            <a:endParaRPr sz="12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85800" y="2514600"/>
            <a:ext cx="5212080" cy="3657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914400" y="274320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1000"/>
              <a:buFont typeface="Montserrat"/>
              <a:buNone/>
            </a:pPr>
            <a:r>
              <a:rPr lang="en-US" sz="1000" b="1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TODAY  ·  COST CENTER LENS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914400" y="301752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900"/>
              <a:buFont typeface="Montserrat"/>
              <a:buNone/>
            </a:pPr>
            <a:r>
              <a:rPr lang="en-US" sz="190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People appear as expenses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914400" y="3566160"/>
            <a:ext cx="47548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Montserrat"/>
              <a:buChar char="■"/>
            </a:pPr>
            <a:r>
              <a:rPr lang="en-US" sz="120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Headcount, payroll, absenteeism reported in isolation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Montserrat"/>
              <a:buChar char="■"/>
            </a:pPr>
            <a:r>
              <a:rPr lang="en-US" sz="120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No link between training spend and performance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Montserrat"/>
              <a:buChar char="■"/>
            </a:pPr>
            <a:r>
              <a:rPr lang="en-US" sz="120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Attrition seen after the fact, never anticipated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Montserrat"/>
              <a:buChar char="■"/>
            </a:pPr>
            <a:r>
              <a:rPr lang="en-US" sz="120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Compensation managed without efficiency benchmark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914400" y="576072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1100"/>
              <a:buFont typeface="Montserrat"/>
              <a:buNone/>
            </a:pPr>
            <a:r>
              <a:rPr lang="en-US" sz="1100" b="1" i="1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Result: HR is a budget line, not a strategic lever.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355080" y="2514600"/>
            <a:ext cx="5212080" cy="3657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355080" y="2514600"/>
            <a:ext cx="73152" cy="3657600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583680" y="274320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1000"/>
              <a:buFont typeface="Montserrat"/>
              <a:buNone/>
            </a:pPr>
            <a:r>
              <a:rPr lang="en-US" sz="100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OUR FRAMEWORK  ·  VALUE LENS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583680" y="301752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900"/>
              <a:buFont typeface="Montserrat"/>
              <a:buNone/>
            </a:pPr>
            <a:r>
              <a:rPr lang="en-US" sz="190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People as a measurable asset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583680" y="3566160"/>
            <a:ext cx="4754880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Montserrat"/>
              <a:buChar char="■"/>
            </a:pPr>
            <a:r>
              <a:rPr lang="en-US" sz="120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Financial value created per FTE (HCVA, HCROI)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Montserrat"/>
              <a:buChar char="■"/>
            </a:pPr>
            <a:r>
              <a:rPr lang="en-US" sz="120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Forward-looking attrition risk, not just turnover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Montserrat"/>
              <a:buChar char="■"/>
            </a:pPr>
            <a:r>
              <a:rPr lang="en-US" sz="120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Training measured against actual performance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Montserrat"/>
              <a:buChar char="■"/>
            </a:pPr>
            <a:r>
              <a:rPr lang="en-US" sz="120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Absence and role cost converted into euros lost / gained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583680" y="576072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1100"/>
              <a:buFont typeface="Montserrat"/>
              <a:buNone/>
            </a:pPr>
            <a:r>
              <a:rPr lang="en-US" sz="1100" b="1" i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Result: every HR decision can be priced and prioritized.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3" name="Google Shape;43;p2"/>
          <p:cNvCxnSpPr/>
          <p:nvPr/>
        </p:nvCxnSpPr>
        <p:spPr>
          <a:xfrm>
            <a:off x="457200" y="6446520"/>
            <a:ext cx="11277295" cy="0"/>
          </a:xfrm>
          <a:prstGeom prst="straightConnector1">
            <a:avLst/>
          </a:prstGeom>
          <a:noFill/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900"/>
              <a:buFont typeface="Montserrat"/>
              <a:buNone/>
            </a:pPr>
            <a:r>
              <a:rPr lang="en-US" sz="90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CACEIS x AlbertSchool  ·  Deliverable 2  ·  Human Capital Valuation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900"/>
              <a:buFont typeface="Montserrat"/>
              <a:buNone/>
            </a:pPr>
            <a:r>
              <a:rPr lang="en-US" sz="90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3" descr="/Users/jadkabbaj/Desktop/Projects/AS CACEIS/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7255" y="320040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3"/>
          <p:cNvSpPr/>
          <p:nvPr/>
        </p:nvSpPr>
        <p:spPr>
          <a:xfrm>
            <a:off x="457200" y="411480"/>
            <a:ext cx="73152" cy="1508760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85800" y="457200"/>
            <a:ext cx="1668780" cy="292608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685800" y="457200"/>
            <a:ext cx="16687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lang="en-US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02  ·  PIPELINE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85800" y="841248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Montserrat"/>
              <a:buNone/>
            </a:pPr>
            <a:r>
              <a:rPr lang="en-US" sz="280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From raw CACEIS sources to governed gold tables.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85800" y="18288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1250"/>
              <a:buFont typeface="Montserrat"/>
              <a:buNone/>
            </a:pPr>
            <a:r>
              <a:rPr lang="en-US" sz="125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A reproducible Python pipeline standardizes employee IDs, periods and entities, then feeds every KPI from a single source of truth.</a:t>
            </a:r>
            <a:endParaRPr sz="12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57200" y="2514600"/>
            <a:ext cx="2788920" cy="29260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57200" y="2514600"/>
            <a:ext cx="2788920" cy="292608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57200" y="2532888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lang="en-US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STEP 1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640080" y="297180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Montserrat"/>
              <a:buNone/>
            </a:pPr>
            <a:r>
              <a:rPr lang="en-US" sz="130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RAW SOURCES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40080" y="3429000"/>
            <a:ext cx="242316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1050"/>
              <a:buFont typeface="Montserrat"/>
              <a:buNone/>
            </a:pPr>
            <a:r>
              <a:rPr lang="en-US" sz="105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Finance P&amp;L · FTE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6F6F6F"/>
              </a:buClr>
              <a:buSzPts val="1050"/>
              <a:buFont typeface="Montserrat"/>
              <a:buNone/>
            </a:pPr>
            <a:r>
              <a:rPr lang="en-US" sz="105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HR Master Panel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6F6F6F"/>
              </a:buClr>
              <a:buSzPts val="1050"/>
              <a:buFont typeface="Montserrat"/>
              <a:buNone/>
            </a:pPr>
            <a:r>
              <a:rPr lang="en-US" sz="105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Absence (FR/LU)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6F6F6F"/>
              </a:buClr>
              <a:buSzPts val="1050"/>
              <a:buFont typeface="Montserrat"/>
              <a:buNone/>
            </a:pPr>
            <a:r>
              <a:rPr lang="en-US" sz="105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Training + Reviews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6F6F6F"/>
              </a:buClr>
              <a:buSzPts val="1050"/>
              <a:buFont typeface="Montserrat"/>
              <a:buNone/>
            </a:pPr>
            <a:r>
              <a:rPr lang="en-US" sz="105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EAE Performance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6F6F6F"/>
              </a:buClr>
              <a:buSzPts val="1050"/>
              <a:buFont typeface="Montserrat"/>
              <a:buNone/>
            </a:pPr>
            <a:r>
              <a:rPr lang="en-US" sz="105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Compensation FR/LU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337560" y="2514600"/>
            <a:ext cx="2788920" cy="29260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337560" y="2514600"/>
            <a:ext cx="2788920" cy="292608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337560" y="2532888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lang="en-US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STEP 2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520440" y="297180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Montserrat"/>
              <a:buNone/>
            </a:pPr>
            <a:r>
              <a:rPr lang="en-US" sz="130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CLEAN &amp; STANDARDIZE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520440" y="3429000"/>
            <a:ext cx="242316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1050"/>
              <a:buFont typeface="Montserrat"/>
              <a:buNone/>
            </a:pPr>
            <a:r>
              <a:rPr lang="en-US" sz="105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Header auto-detection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6F6F6F"/>
              </a:buClr>
              <a:buSzPts val="1050"/>
              <a:buFont typeface="Montserrat"/>
              <a:buNone/>
            </a:pPr>
            <a:r>
              <a:rPr lang="en-US" sz="105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ID &amp; period harmonization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6F6F6F"/>
              </a:buClr>
              <a:buSzPts val="1050"/>
              <a:buFont typeface="Montserrat"/>
              <a:buNone/>
            </a:pPr>
            <a:r>
              <a:rPr lang="en-US" sz="105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FR/LU schema unification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6F6F6F"/>
              </a:buClr>
              <a:buSzPts val="1050"/>
              <a:buFont typeface="Montserrat"/>
              <a:buNone/>
            </a:pPr>
            <a:r>
              <a:rPr lang="en-US" sz="105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Reason / status coding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6F6F6F"/>
              </a:buClr>
              <a:buSzPts val="1050"/>
              <a:buFont typeface="Montserrat"/>
              <a:buNone/>
            </a:pPr>
            <a:r>
              <a:rPr lang="en-US" sz="105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Missing-value strategy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217920" y="2514600"/>
            <a:ext cx="2788920" cy="29260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217920" y="2514600"/>
            <a:ext cx="2788920" cy="292608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217920" y="2532888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lang="en-US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STEP 3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400800" y="297180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Montserrat"/>
              <a:buNone/>
            </a:pPr>
            <a:r>
              <a:rPr lang="en-US" sz="130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GOLD TABLES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400800" y="3429000"/>
            <a:ext cx="242316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1050"/>
              <a:buFont typeface="Montserrat"/>
              <a:buNone/>
            </a:pPr>
            <a:r>
              <a:rPr lang="en-US" sz="105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gold_finance_kpis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6F6F6F"/>
              </a:buClr>
              <a:buSzPts val="1050"/>
              <a:buFont typeface="Montserrat"/>
              <a:buNone/>
            </a:pPr>
            <a:r>
              <a:rPr lang="en-US" sz="105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gold_employee_month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6F6F6F"/>
              </a:buClr>
              <a:buSzPts val="1050"/>
              <a:buFont typeface="Montserrat"/>
              <a:buNone/>
            </a:pPr>
            <a:r>
              <a:rPr lang="en-US" sz="105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gold_learning_perf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6F6F6F"/>
              </a:buClr>
              <a:buSzPts val="1050"/>
              <a:buFont typeface="Montserrat"/>
              <a:buNone/>
            </a:pPr>
            <a:r>
              <a:rPr lang="en-US" sz="105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gold_absence_drag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6F6F6F"/>
              </a:buClr>
              <a:buSzPts val="1050"/>
              <a:buFont typeface="Montserrat"/>
              <a:buNone/>
            </a:pPr>
            <a:r>
              <a:rPr lang="en-US" sz="105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gold_role_cost_eff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9098280" y="2514600"/>
            <a:ext cx="2788920" cy="29260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9098280" y="2514600"/>
            <a:ext cx="2788920" cy="292608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9098280" y="2532888"/>
            <a:ext cx="2788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lang="en-US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STEP 4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9281160" y="297180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Montserrat"/>
              <a:buNone/>
            </a:pPr>
            <a:r>
              <a:rPr lang="en-US" sz="130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KPIs &amp; DASHBOARD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9281160" y="3429000"/>
            <a:ext cx="242316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1050"/>
              <a:buFont typeface="Montserrat"/>
              <a:buNone/>
            </a:pPr>
            <a:r>
              <a:rPr lang="en-US" sz="105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5 KPIs computed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6F6F6F"/>
              </a:buClr>
              <a:buSzPts val="1050"/>
              <a:buFont typeface="Montserrat"/>
              <a:buNone/>
            </a:pPr>
            <a:r>
              <a:rPr lang="en-US" sz="105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Streamlit dashboard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6F6F6F"/>
              </a:buClr>
              <a:buSzPts val="1050"/>
              <a:buFont typeface="Montserrat"/>
              <a:buNone/>
            </a:pPr>
            <a:r>
              <a:rPr lang="en-US" sz="105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Drill-down by entity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6F6F6F"/>
              </a:buClr>
              <a:buSzPts val="1050"/>
              <a:buFont typeface="Montserrat"/>
              <a:buNone/>
            </a:pPr>
            <a:r>
              <a:rPr lang="en-US" sz="105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Job · country · year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Clr>
                <a:srgbClr val="6F6F6F"/>
              </a:buClr>
              <a:buSzPts val="1050"/>
              <a:buFont typeface="Montserrat"/>
              <a:buNone/>
            </a:pPr>
            <a:r>
              <a:rPr lang="en-US" sz="105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Export-ready outputs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p3"/>
          <p:cNvSpPr/>
          <p:nvPr/>
        </p:nvSpPr>
        <p:spPr>
          <a:xfrm rot="5400000">
            <a:off x="3264408" y="3904488"/>
            <a:ext cx="128016" cy="146304"/>
          </a:xfrm>
          <a:prstGeom prst="rtTriangle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3"/>
          <p:cNvSpPr/>
          <p:nvPr/>
        </p:nvSpPr>
        <p:spPr>
          <a:xfrm rot="5400000">
            <a:off x="6144768" y="3904488"/>
            <a:ext cx="128016" cy="146304"/>
          </a:xfrm>
          <a:prstGeom prst="rtTriangle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3"/>
          <p:cNvSpPr/>
          <p:nvPr/>
        </p:nvSpPr>
        <p:spPr>
          <a:xfrm rot="5400000">
            <a:off x="9025128" y="3904488"/>
            <a:ext cx="128016" cy="146304"/>
          </a:xfrm>
          <a:prstGeom prst="rtTriangle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57200" y="5669280"/>
            <a:ext cx="11277295" cy="685800"/>
          </a:xfrm>
          <a:prstGeom prst="rect">
            <a:avLst/>
          </a:prstGeom>
          <a:solidFill>
            <a:srgbClr val="FBF7F4"/>
          </a:solidFill>
          <a:ln w="9525" cap="flat" cmpd="sng">
            <a:solidFill>
              <a:srgbClr val="ECE4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57200" y="5669280"/>
            <a:ext cx="64008" cy="685800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85800" y="5779008"/>
            <a:ext cx="1091153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900"/>
              <a:buFont typeface="Montserrat"/>
              <a:buNone/>
            </a:pPr>
            <a:r>
              <a:rPr lang="en-US" sz="90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GOVERNANCE BUILT IN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85800" y="6053328"/>
            <a:ext cx="1091153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Montserrat"/>
              <a:buNone/>
            </a:pPr>
            <a:r>
              <a:rPr lang="en-US" sz="110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GDPR — pseudonymized employee IDs, role-level (not individual) compensation, no PII in dashboard outputs. Every KPI is reproducible from the same gold tables.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4" name="Google Shape;84;p3"/>
          <p:cNvCxnSpPr/>
          <p:nvPr/>
        </p:nvCxnSpPr>
        <p:spPr>
          <a:xfrm>
            <a:off x="457200" y="6446520"/>
            <a:ext cx="11277295" cy="0"/>
          </a:xfrm>
          <a:prstGeom prst="straightConnector1">
            <a:avLst/>
          </a:prstGeom>
          <a:noFill/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5" name="Google Shape;85;p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900"/>
              <a:buFont typeface="Montserrat"/>
              <a:buNone/>
            </a:pPr>
            <a:r>
              <a:rPr lang="en-US" sz="90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CACEIS x AlbertSchool  ·  Deliverable 2  ·  Human Capital Valuation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900"/>
              <a:buFont typeface="Montserrat"/>
              <a:buNone/>
            </a:pPr>
            <a:r>
              <a:rPr lang="en-US" sz="90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4" descr="/Users/jadkabbaj/Desktop/Projects/AS CACEIS/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7255" y="320040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/>
          <p:nvPr/>
        </p:nvSpPr>
        <p:spPr>
          <a:xfrm>
            <a:off x="457200" y="411480"/>
            <a:ext cx="73152" cy="1508760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85800" y="457200"/>
            <a:ext cx="1764792" cy="292608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85800" y="457200"/>
            <a:ext cx="176479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lang="en-US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  ·  FRAMEWORK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85800" y="841248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Montserrat"/>
              <a:buNone/>
            </a:pPr>
            <a:r>
              <a:rPr lang="en-US" sz="280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Five KPIs. Five lenses on human capital value.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85800" y="18288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1250"/>
              <a:buFont typeface="Montserrat"/>
              <a:buNone/>
            </a:pPr>
            <a:r>
              <a:rPr lang="en-US" sz="125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Each KPI answers a distinct value question. Together they cover financial output, retention risk, capability building, productivity loss and pay efficiency.</a:t>
            </a:r>
            <a:endParaRPr sz="12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57200" y="2514600"/>
            <a:ext cx="3667658" cy="1828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57200" y="2514600"/>
            <a:ext cx="73152" cy="1828800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40080" y="2679192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1300"/>
              <a:buFont typeface="Montserrat"/>
              <a:buNone/>
            </a:pPr>
            <a:r>
              <a:rPr lang="en-US" sz="130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1234440" y="2715768"/>
            <a:ext cx="275325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850"/>
              <a:buFont typeface="Montserrat"/>
              <a:buNone/>
            </a:pPr>
            <a:r>
              <a:rPr lang="en-US" sz="1250" b="1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VALUE CREATION</a:t>
            </a:r>
            <a:endParaRPr sz="12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40080" y="3017520"/>
            <a:ext cx="330189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Montserrat"/>
              <a:buNone/>
            </a:pPr>
            <a:r>
              <a:rPr lang="en-US" sz="145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HCVA / HCROI per FTE</a:t>
            </a:r>
            <a:endParaRPr sz="14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40080" y="3447288"/>
            <a:ext cx="330189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1100"/>
              <a:buFont typeface="Montserrat"/>
              <a:buNone/>
            </a:pPr>
            <a:r>
              <a:rPr lang="en-US" sz="1100" b="1" i="1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Are employees creating more financial value?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4" name="Google Shape;104;p4"/>
          <p:cNvCxnSpPr/>
          <p:nvPr/>
        </p:nvCxnSpPr>
        <p:spPr>
          <a:xfrm>
            <a:off x="640080" y="3931920"/>
            <a:ext cx="3301898" cy="0"/>
          </a:xfrm>
          <a:prstGeom prst="straightConnector1">
            <a:avLst/>
          </a:prstGeom>
          <a:noFill/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5" name="Google Shape;105;p4"/>
          <p:cNvSpPr/>
          <p:nvPr/>
        </p:nvSpPr>
        <p:spPr>
          <a:xfrm>
            <a:off x="640080" y="3977640"/>
            <a:ext cx="330189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850"/>
              <a:buFont typeface="Montserrat"/>
              <a:buNone/>
            </a:pPr>
            <a:r>
              <a:rPr lang="en-US" sz="85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DATA  ·  Finance × FTE</a:t>
            </a:r>
            <a:endParaRPr sz="8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262018" y="2514600"/>
            <a:ext cx="3667658" cy="1828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262018" y="2514600"/>
            <a:ext cx="73152" cy="1828800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444898" y="2679192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1300"/>
              <a:buFont typeface="Montserrat"/>
              <a:buNone/>
            </a:pPr>
            <a:r>
              <a:rPr lang="en-US" sz="130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039258" y="2715768"/>
            <a:ext cx="275325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850"/>
              <a:buFont typeface="Montserrat"/>
              <a:buNone/>
            </a:pPr>
            <a:r>
              <a:rPr lang="en-US" sz="1250" b="1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RETENTION RISK</a:t>
            </a:r>
            <a:endParaRPr sz="12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444898" y="3017520"/>
            <a:ext cx="330189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Montserrat"/>
              <a:buNone/>
            </a:pPr>
            <a:r>
              <a:rPr lang="en-US" sz="145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Workforce Value-at-Risk</a:t>
            </a:r>
            <a:endParaRPr sz="14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444898" y="3447288"/>
            <a:ext cx="330189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1100"/>
              <a:buFont typeface="Montserrat"/>
              <a:buNone/>
            </a:pPr>
            <a:r>
              <a:rPr lang="en-US" sz="1100" b="1" i="1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Where do we risk losing human capital?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12" name="Google Shape;112;p4"/>
          <p:cNvCxnSpPr/>
          <p:nvPr/>
        </p:nvCxnSpPr>
        <p:spPr>
          <a:xfrm>
            <a:off x="4444898" y="3931920"/>
            <a:ext cx="3301898" cy="0"/>
          </a:xfrm>
          <a:prstGeom prst="straightConnector1">
            <a:avLst/>
          </a:prstGeom>
          <a:noFill/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3" name="Google Shape;113;p4"/>
          <p:cNvSpPr/>
          <p:nvPr/>
        </p:nvSpPr>
        <p:spPr>
          <a:xfrm>
            <a:off x="4444898" y="3977640"/>
            <a:ext cx="330189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850"/>
              <a:buFont typeface="Montserrat"/>
              <a:buNone/>
            </a:pPr>
            <a:r>
              <a:rPr lang="en-US" sz="85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DATA  ·  Tenure × EAE × Absence × Training</a:t>
            </a:r>
            <a:endParaRPr sz="8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8066837" y="2514600"/>
            <a:ext cx="3667658" cy="1828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8066837" y="2514600"/>
            <a:ext cx="73152" cy="1828800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8249717" y="2679192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1300"/>
              <a:buFont typeface="Montserrat"/>
              <a:buNone/>
            </a:pPr>
            <a:r>
              <a:rPr lang="en-US" sz="130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8844077" y="2715768"/>
            <a:ext cx="275325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850"/>
              <a:buFont typeface="Montserrat"/>
              <a:buNone/>
            </a:pPr>
            <a:r>
              <a:rPr lang="en-US" sz="1250" b="1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CAPABILITY</a:t>
            </a:r>
            <a:endParaRPr sz="12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8249717" y="3017520"/>
            <a:ext cx="330189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Montserrat"/>
              <a:buNone/>
            </a:pPr>
            <a:r>
              <a:rPr lang="en-US" sz="145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Learning-to-Performance Index</a:t>
            </a:r>
            <a:endParaRPr sz="14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8249717" y="3447288"/>
            <a:ext cx="330189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1100"/>
              <a:buFont typeface="Montserrat"/>
              <a:buNone/>
            </a:pPr>
            <a:r>
              <a:rPr lang="en-US" sz="1100" b="1" i="1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Does training translate into performance?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0" name="Google Shape;120;p4"/>
          <p:cNvCxnSpPr/>
          <p:nvPr/>
        </p:nvCxnSpPr>
        <p:spPr>
          <a:xfrm>
            <a:off x="8249717" y="3931920"/>
            <a:ext cx="3301898" cy="0"/>
          </a:xfrm>
          <a:prstGeom prst="straightConnector1">
            <a:avLst/>
          </a:prstGeom>
          <a:noFill/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1" name="Google Shape;121;p4"/>
          <p:cNvSpPr/>
          <p:nvPr/>
        </p:nvSpPr>
        <p:spPr>
          <a:xfrm>
            <a:off x="8249717" y="3977640"/>
            <a:ext cx="330189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850"/>
              <a:buFont typeface="Montserrat"/>
              <a:buNone/>
            </a:pPr>
            <a:r>
              <a:rPr lang="en-US" sz="85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DATA  ·  Training × Reviews × EAE</a:t>
            </a:r>
            <a:endParaRPr sz="8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2359609" y="4526280"/>
            <a:ext cx="3667658" cy="1828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2359609" y="4526280"/>
            <a:ext cx="73152" cy="1828800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2542489" y="4690872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1300"/>
              <a:buFont typeface="Montserrat"/>
              <a:buNone/>
            </a:pPr>
            <a:r>
              <a:rPr lang="en-US" sz="130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136849" y="4727448"/>
            <a:ext cx="275325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850"/>
              <a:buFont typeface="Montserrat"/>
              <a:buNone/>
            </a:pPr>
            <a:r>
              <a:rPr lang="en-US" sz="1250" b="1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PRODUCTIVITY</a:t>
            </a:r>
            <a:endParaRPr sz="12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2542489" y="5029200"/>
            <a:ext cx="330189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Montserrat"/>
              <a:buNone/>
            </a:pPr>
            <a:r>
              <a:rPr lang="en-US" sz="145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Absence Productivity Drag</a:t>
            </a:r>
            <a:endParaRPr sz="14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2542489" y="5458968"/>
            <a:ext cx="330189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1100"/>
              <a:buFont typeface="Montserrat"/>
              <a:buNone/>
            </a:pPr>
            <a:r>
              <a:rPr lang="en-US" sz="1100" b="1" i="1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How much value do we lose to absence?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8" name="Google Shape;128;p4"/>
          <p:cNvCxnSpPr/>
          <p:nvPr/>
        </p:nvCxnSpPr>
        <p:spPr>
          <a:xfrm>
            <a:off x="2542489" y="5943600"/>
            <a:ext cx="3301898" cy="0"/>
          </a:xfrm>
          <a:prstGeom prst="straightConnector1">
            <a:avLst/>
          </a:prstGeom>
          <a:noFill/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9" name="Google Shape;129;p4"/>
          <p:cNvSpPr/>
          <p:nvPr/>
        </p:nvSpPr>
        <p:spPr>
          <a:xfrm>
            <a:off x="2542489" y="5989320"/>
            <a:ext cx="330189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850"/>
              <a:buFont typeface="Montserrat"/>
              <a:buNone/>
            </a:pPr>
            <a:r>
              <a:rPr lang="en-US" sz="85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DATA  ·  Absence × HCVA per FTE</a:t>
            </a:r>
            <a:endParaRPr sz="8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6164428" y="4526280"/>
            <a:ext cx="3667658" cy="1828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6164428" y="4526280"/>
            <a:ext cx="73152" cy="1828800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6347308" y="4690872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1300"/>
              <a:buFont typeface="Montserrat"/>
              <a:buNone/>
            </a:pPr>
            <a:r>
              <a:rPr lang="en-US" sz="130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6941668" y="4727448"/>
            <a:ext cx="275325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850"/>
              <a:buFont typeface="Montserrat"/>
              <a:buNone/>
            </a:pPr>
            <a:r>
              <a:rPr lang="en-US" sz="1250" b="1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PAY EFFICIENCY</a:t>
            </a:r>
            <a:endParaRPr sz="12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347308" y="5029200"/>
            <a:ext cx="3301898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Montserrat"/>
              <a:buNone/>
            </a:pPr>
            <a:r>
              <a:rPr lang="en-US" sz="145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Role Cost Efficiency Index</a:t>
            </a:r>
            <a:endParaRPr sz="14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6347308" y="5458968"/>
            <a:ext cx="330189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1100"/>
              <a:buFont typeface="Montserrat"/>
              <a:buNone/>
            </a:pPr>
            <a:r>
              <a:rPr lang="en-US" sz="1100" b="1" i="1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Is role cost aligned with role performance?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6" name="Google Shape;136;p4"/>
          <p:cNvCxnSpPr/>
          <p:nvPr/>
        </p:nvCxnSpPr>
        <p:spPr>
          <a:xfrm>
            <a:off x="6347308" y="5943600"/>
            <a:ext cx="3301898" cy="0"/>
          </a:xfrm>
          <a:prstGeom prst="straightConnector1">
            <a:avLst/>
          </a:prstGeom>
          <a:noFill/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7" name="Google Shape;137;p4"/>
          <p:cNvSpPr/>
          <p:nvPr/>
        </p:nvSpPr>
        <p:spPr>
          <a:xfrm>
            <a:off x="6347308" y="5989320"/>
            <a:ext cx="330189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850"/>
              <a:buFont typeface="Montserrat"/>
              <a:buNone/>
            </a:pPr>
            <a:r>
              <a:rPr lang="en-US" sz="85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DATA  ·  Compensation × EAE</a:t>
            </a:r>
            <a:endParaRPr sz="8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38" name="Google Shape;138;p4"/>
          <p:cNvCxnSpPr/>
          <p:nvPr/>
        </p:nvCxnSpPr>
        <p:spPr>
          <a:xfrm>
            <a:off x="457200" y="6446520"/>
            <a:ext cx="11277295" cy="0"/>
          </a:xfrm>
          <a:prstGeom prst="straightConnector1">
            <a:avLst/>
          </a:prstGeom>
          <a:noFill/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9" name="Google Shape;139;p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900"/>
              <a:buFont typeface="Montserrat"/>
              <a:buNone/>
            </a:pPr>
            <a:r>
              <a:rPr lang="en-US" sz="90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CACEIS x AlbertSchool  ·  Deliverable 2  ·  Human Capital Valuation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900"/>
              <a:buFont typeface="Montserrat"/>
              <a:buNone/>
            </a:pPr>
            <a:r>
              <a:rPr lang="en-US" sz="90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5" descr="/Users/jadkabbaj/Desktop/Projects/AS CACEIS/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7255" y="320040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5"/>
          <p:cNvSpPr/>
          <p:nvPr/>
        </p:nvSpPr>
        <p:spPr>
          <a:xfrm>
            <a:off x="457200" y="411480"/>
            <a:ext cx="73152" cy="1508760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85800" y="457200"/>
            <a:ext cx="1280160" cy="292608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85800" y="4572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lang="en-US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KPI 01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685800" y="841248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Montserrat"/>
              <a:buNone/>
            </a:pPr>
            <a:r>
              <a:rPr lang="en-US" sz="280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HCVA / HCROI per FTE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685800" y="18288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1250"/>
              <a:buFont typeface="Montserrat"/>
              <a:buNone/>
            </a:pPr>
            <a:r>
              <a:rPr lang="en-US" sz="1250" b="1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Financial value created by the workforce:</a:t>
            </a:r>
            <a:endParaRPr sz="1250" b="1">
              <a:solidFill>
                <a:srgbClr val="6F6F6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1250"/>
              <a:buFont typeface="Montserrat"/>
              <a:buNone/>
            </a:pPr>
            <a:r>
              <a:rPr lang="en-US" sz="1250" b="1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the foundation of every other KPI.</a:t>
            </a:r>
            <a:endParaRPr sz="12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57200" y="2468880"/>
            <a:ext cx="4572000" cy="1828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685800" y="261518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900"/>
              <a:buFont typeface="Montserrat"/>
              <a:buNone/>
            </a:pPr>
            <a:r>
              <a:rPr lang="en-US" sz="90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FORMULA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685800" y="2971800"/>
            <a:ext cx="41148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onsolas"/>
              <a:buNone/>
            </a:pPr>
            <a:r>
              <a:rPr lang="en-US" sz="1150" b="1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HCVA              = PNB − Other Operating Costs</a:t>
            </a:r>
            <a:endParaRPr sz="11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onsolas"/>
              <a:buNone/>
            </a:pPr>
            <a:r>
              <a:rPr lang="en-US" sz="1150" b="1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HCVA per FTE      = HCVA / Average FTE</a:t>
            </a:r>
            <a:endParaRPr sz="11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onsolas"/>
              <a:buNone/>
            </a:pPr>
            <a:r>
              <a:rPr lang="en-US" sz="1150" b="1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HCROI             = HCVA / Total Personnel Costs</a:t>
            </a:r>
            <a:endParaRPr sz="11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onsolas"/>
              <a:buNone/>
            </a:pPr>
            <a:r>
              <a:rPr lang="en-US" sz="1150" b="1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Revenue per FTE   = PNB / Average FTE</a:t>
            </a:r>
            <a:endParaRPr sz="11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457200" y="4462272"/>
            <a:ext cx="4572000" cy="19385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685800" y="4608576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900"/>
              <a:buFont typeface="Montserrat"/>
              <a:buNone/>
            </a:pPr>
            <a:r>
              <a:rPr lang="en-US" sz="90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WHY IT MATTERS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685800" y="4919472"/>
            <a:ext cx="4114800" cy="138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Montserrat"/>
              <a:buChar char="■"/>
            </a:pPr>
            <a:r>
              <a:rPr lang="en-US" sz="100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Translates the P&amp;L into a per-employee value metric, comparable across years and entities.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Montserrat"/>
              <a:buChar char="■"/>
            </a:pPr>
            <a:r>
              <a:rPr lang="en-US" sz="100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HCROI &gt; 1 means every euro of personnel cost generates more than one of value.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Montserrat"/>
              <a:buChar char="■"/>
            </a:pPr>
            <a:r>
              <a:rPr lang="en-US" sz="100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Sets the unit price used in KPI 4 to convert lost workdays into euros.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Montserrat"/>
              <a:buChar char="■"/>
            </a:pPr>
            <a:r>
              <a:rPr lang="en-US" sz="100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Reframes payroll from a cost to minimize into a return to maximize.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5257800" y="5330952"/>
            <a:ext cx="6476695" cy="1069848"/>
          </a:xfrm>
          <a:prstGeom prst="rect">
            <a:avLst/>
          </a:prstGeom>
          <a:solidFill>
            <a:srgbClr val="FBF7F4"/>
          </a:solidFill>
          <a:ln w="9525" cap="flat" cmpd="sng">
            <a:solidFill>
              <a:srgbClr val="ECE4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5257800" y="5330952"/>
            <a:ext cx="64008" cy="1069848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5486400" y="5440680"/>
            <a:ext cx="611093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900"/>
              <a:buFont typeface="Montserrat"/>
              <a:buNone/>
            </a:pPr>
            <a:r>
              <a:rPr lang="en-US" sz="90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KEY INSIGHT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5486400" y="5715000"/>
            <a:ext cx="6110935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Montserrat"/>
              <a:buNone/>
            </a:pPr>
            <a:r>
              <a:rPr lang="en-US" sz="110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Yearly HCVA per FTE and HCROI computed for 2022-2025 on Group and European scope — a workforce productivity baseline tracked annually.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2" name="Google Shape;162;p5"/>
          <p:cNvCxnSpPr/>
          <p:nvPr/>
        </p:nvCxnSpPr>
        <p:spPr>
          <a:xfrm>
            <a:off x="457200" y="6446520"/>
            <a:ext cx="11277295" cy="0"/>
          </a:xfrm>
          <a:prstGeom prst="straightConnector1">
            <a:avLst/>
          </a:prstGeom>
          <a:noFill/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3" name="Google Shape;163;p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900"/>
              <a:buFont typeface="Montserrat"/>
              <a:buNone/>
            </a:pPr>
            <a:r>
              <a:rPr lang="en-US" sz="90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CACEIS x AlbertSchool  ·  Deliverable 2  ·  Human Capital Valuation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900"/>
              <a:buFont typeface="Montserrat"/>
              <a:buNone/>
            </a:pPr>
            <a:r>
              <a:rPr lang="en-US" sz="90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5" name="Google Shape;165;p5" title="imag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2657" y="902525"/>
            <a:ext cx="6261176" cy="4277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6" descr="/Users/jadkabbaj/Desktop/Projects/AS CACEIS/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7255" y="320040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6"/>
          <p:cNvSpPr/>
          <p:nvPr/>
        </p:nvSpPr>
        <p:spPr>
          <a:xfrm>
            <a:off x="457200" y="411480"/>
            <a:ext cx="73152" cy="1508760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85800" y="457200"/>
            <a:ext cx="1280160" cy="292608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85800" y="4572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lang="en-US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KPI 02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85800" y="841248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Montserrat"/>
              <a:buNone/>
            </a:pPr>
            <a:r>
              <a:rPr lang="en-US" sz="280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Workforce Value-at-Risk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85800" y="18288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1250"/>
              <a:buFont typeface="Montserrat"/>
              <a:buNone/>
            </a:pPr>
            <a:r>
              <a:rPr lang="en-US" sz="1250" b="1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Forward-looking risk score flagging employees </a:t>
            </a:r>
            <a:endParaRPr sz="1250" b="1">
              <a:solidFill>
                <a:srgbClr val="6F6F6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1250"/>
              <a:buFont typeface="Montserrat"/>
              <a:buNone/>
            </a:pPr>
            <a:r>
              <a:rPr lang="en-US" sz="1250" b="1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and segments most likely to leave or underperform.</a:t>
            </a:r>
            <a:endParaRPr sz="12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457200" y="2468880"/>
            <a:ext cx="4572000" cy="1828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85800" y="261518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900"/>
              <a:buFont typeface="Montserrat"/>
              <a:buNone/>
            </a:pPr>
            <a:r>
              <a:rPr lang="en-US" sz="120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FORMULA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85800" y="2867098"/>
            <a:ext cx="4114800" cy="11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onsolas"/>
              <a:buNone/>
            </a:pPr>
            <a:r>
              <a:rPr lang="en-US" sz="1250" b="1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Risk Score =</a:t>
            </a:r>
            <a:endParaRPr sz="12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onsolas"/>
              <a:buNone/>
            </a:pPr>
            <a:r>
              <a:rPr lang="en-US" sz="1250" b="1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  0.25 · New Joiner</a:t>
            </a:r>
            <a:endParaRPr sz="12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onsolas"/>
              <a:buNone/>
            </a:pPr>
            <a:r>
              <a:rPr lang="en-US" sz="1250" b="1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+ 0.20 · Low Performance</a:t>
            </a:r>
            <a:endParaRPr sz="12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onsolas"/>
              <a:buNone/>
            </a:pPr>
            <a:r>
              <a:rPr lang="en-US" sz="1250" b="1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+ 0.20 · High Absence</a:t>
            </a:r>
            <a:endParaRPr sz="12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onsolas"/>
              <a:buNone/>
            </a:pPr>
            <a:r>
              <a:rPr lang="en-US" sz="1250" b="1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+ 0.15 · Low Training</a:t>
            </a:r>
            <a:endParaRPr sz="12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onsolas"/>
              <a:buNone/>
            </a:pPr>
            <a:r>
              <a:rPr lang="en-US" sz="1250" b="1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+ 0.10 · Long Time-in-Post</a:t>
            </a:r>
            <a:endParaRPr sz="12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onsolas"/>
              <a:buNone/>
            </a:pPr>
            <a:r>
              <a:rPr lang="en-US" sz="1250" b="1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+ 0.10 · Segment Risk</a:t>
            </a:r>
            <a:endParaRPr sz="12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457200" y="4462272"/>
            <a:ext cx="4572000" cy="19385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85800" y="4608576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900"/>
              <a:buFont typeface="Montserrat"/>
              <a:buNone/>
            </a:pPr>
            <a:r>
              <a:rPr lang="en-US" sz="90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WHY DOES IT MATTER ?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85800" y="4898532"/>
            <a:ext cx="4114800" cy="1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925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Montserrat"/>
              <a:buChar char="■"/>
            </a:pPr>
            <a:r>
              <a:rPr lang="en-US" sz="110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Anticipates attrition before notice periods — turnover becomes a managed risk, not a surprise.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9250" algn="l" rtl="0">
              <a:spcBef>
                <a:spcPts val="30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Montserrat"/>
              <a:buChar char="■"/>
            </a:pPr>
            <a:r>
              <a:rPr lang="en-US" sz="110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Multi-factor: blends tenure, EAE performance, absence and training signals.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9250" algn="l" rtl="0">
              <a:spcBef>
                <a:spcPts val="30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Montserrat"/>
              <a:buChar char="■"/>
            </a:pPr>
            <a:r>
              <a:rPr lang="en-US" sz="110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Surfaces the entities, jobs and segments where retention investment will pay back fastest.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9250" algn="l" rtl="0">
              <a:spcBef>
                <a:spcPts val="30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Montserrat"/>
              <a:buChar char="■"/>
            </a:pPr>
            <a:r>
              <a:rPr lang="en-US" sz="110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Interpretable weights — every risk component can be challenged by HRBPs.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5257800" y="5330952"/>
            <a:ext cx="6476695" cy="1069848"/>
          </a:xfrm>
          <a:prstGeom prst="rect">
            <a:avLst/>
          </a:prstGeom>
          <a:solidFill>
            <a:srgbClr val="FBF7F4"/>
          </a:solidFill>
          <a:ln w="9525" cap="flat" cmpd="sng">
            <a:solidFill>
              <a:srgbClr val="ECE4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5257800" y="5330952"/>
            <a:ext cx="64008" cy="1069848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5486400" y="5440680"/>
            <a:ext cx="611093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900"/>
              <a:buFont typeface="Montserrat"/>
              <a:buNone/>
            </a:pPr>
            <a:r>
              <a:rPr lang="en-US" sz="90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KEY INSIGHT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5486400" y="5715000"/>
            <a:ext cx="6110935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Montserrat"/>
              <a:buNone/>
            </a:pPr>
            <a:r>
              <a:rPr lang="en-US" sz="110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Risk score computed on the latest observable employee-month panel; top-risk lists exposed by entity, job family and tenure band.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7" name="Google Shape;187;p6"/>
          <p:cNvCxnSpPr/>
          <p:nvPr/>
        </p:nvCxnSpPr>
        <p:spPr>
          <a:xfrm>
            <a:off x="457200" y="6446520"/>
            <a:ext cx="11277295" cy="0"/>
          </a:xfrm>
          <a:prstGeom prst="straightConnector1">
            <a:avLst/>
          </a:prstGeom>
          <a:noFill/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" name="Google Shape;188;p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900"/>
              <a:buFont typeface="Montserrat"/>
              <a:buNone/>
            </a:pPr>
            <a:r>
              <a:rPr lang="en-US" sz="90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CACEIS x AlbertSchool  ·  Deliverable 2  ·  Human Capital Valuation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900"/>
              <a:buFont typeface="Montserrat"/>
              <a:buNone/>
            </a:pPr>
            <a:r>
              <a:rPr lang="en-US" sz="90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0" name="Google Shape;190;p6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8067" y="1097275"/>
            <a:ext cx="5553782" cy="4081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7" descr="/Users/jadkabbaj/Desktop/Projects/AS CACEIS/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7255" y="320040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7"/>
          <p:cNvSpPr/>
          <p:nvPr/>
        </p:nvSpPr>
        <p:spPr>
          <a:xfrm>
            <a:off x="457200" y="411480"/>
            <a:ext cx="73152" cy="1508760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685800" y="457200"/>
            <a:ext cx="1280160" cy="292608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685800" y="4572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lang="en-US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KPI 03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685800" y="841248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Montserrat"/>
              <a:buNone/>
            </a:pPr>
            <a:r>
              <a:rPr lang="en-US" sz="280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Learning-to-Performance Index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685800" y="18288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1250"/>
              <a:buFont typeface="Montserrat"/>
              <a:buNone/>
            </a:pPr>
            <a:r>
              <a:rPr lang="en-US" sz="1250" b="1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Whether training spend translates into</a:t>
            </a:r>
            <a:endParaRPr sz="1250" b="1">
              <a:solidFill>
                <a:srgbClr val="6F6F6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1250"/>
              <a:buFont typeface="Montserrat"/>
              <a:buNone/>
            </a:pPr>
            <a:r>
              <a:rPr lang="en-US" sz="1250" b="1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 measurable capability and performance.</a:t>
            </a:r>
            <a:endParaRPr sz="12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457200" y="2468880"/>
            <a:ext cx="4572000" cy="1828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685800" y="261518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900"/>
              <a:buFont typeface="Montserrat"/>
              <a:buNone/>
            </a:pPr>
            <a:r>
              <a:rPr lang="en-US" sz="130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FORMULA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685800" y="2971800"/>
            <a:ext cx="41148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onsolas"/>
              <a:buNone/>
            </a:pPr>
            <a:r>
              <a:rPr lang="en-US" sz="1350" b="1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L2P Index =</a:t>
            </a:r>
            <a:endParaRPr sz="13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onsolas"/>
              <a:buNone/>
            </a:pPr>
            <a:r>
              <a:rPr lang="en-US" sz="1350" b="1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  0.40 · Norm. Training Hours</a:t>
            </a:r>
            <a:endParaRPr sz="13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onsolas"/>
              <a:buNone/>
            </a:pPr>
            <a:r>
              <a:rPr lang="en-US" sz="1350" b="1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+ 0.30 · Norm. Cold Impact</a:t>
            </a:r>
            <a:endParaRPr sz="13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onsolas"/>
              <a:buNone/>
            </a:pPr>
            <a:r>
              <a:rPr lang="en-US" sz="1350" b="1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+ 0.20 · Norm. Quick Review</a:t>
            </a:r>
            <a:endParaRPr sz="13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onsolas"/>
              <a:buNone/>
            </a:pPr>
            <a:r>
              <a:rPr lang="en-US" sz="1350" b="1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+ 0.10 · Certification Flag</a:t>
            </a:r>
            <a:endParaRPr sz="13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457200" y="4462272"/>
            <a:ext cx="4572000" cy="19385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685800" y="4608576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900"/>
              <a:buFont typeface="Montserrat"/>
              <a:buNone/>
            </a:pPr>
            <a:r>
              <a:rPr lang="en-US" sz="90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WHY DOES IT MATTER ?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664860" y="4856651"/>
            <a:ext cx="4114800" cy="1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Montserrat"/>
              <a:buChar char="■"/>
            </a:pPr>
            <a:r>
              <a:rPr lang="en-US" sz="100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Goes beyond hours-trained vanity metrics by integrating learner satisfaction, cold-impact survey and EAE performance.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Montserrat"/>
              <a:buChar char="■"/>
            </a:pPr>
            <a:r>
              <a:rPr lang="en-US" sz="100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Compares trained vs. non-trained employees on the same population.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Montserrat"/>
              <a:buChar char="■"/>
            </a:pPr>
            <a:r>
              <a:rPr lang="en-US" sz="100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Identifies which training programs actually move the performance needle.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Montserrat"/>
              <a:buChar char="■"/>
            </a:pPr>
            <a:r>
              <a:rPr lang="en-US" sz="100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Justifies L&amp;D budget in financial terms, not headcount of attendees.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5257800" y="5330952"/>
            <a:ext cx="6476695" cy="1069848"/>
          </a:xfrm>
          <a:prstGeom prst="rect">
            <a:avLst/>
          </a:prstGeom>
          <a:solidFill>
            <a:srgbClr val="FBF7F4"/>
          </a:solidFill>
          <a:ln w="9525" cap="flat" cmpd="sng">
            <a:solidFill>
              <a:srgbClr val="ECE4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257800" y="5330952"/>
            <a:ext cx="64008" cy="1069848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5486400" y="5440680"/>
            <a:ext cx="611093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900"/>
              <a:buFont typeface="Montserrat"/>
              <a:buNone/>
            </a:pPr>
            <a:r>
              <a:rPr lang="en-US" sz="90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KEY INSIGHT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5486400" y="5715000"/>
            <a:ext cx="6110935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Montserrat"/>
              <a:buNone/>
            </a:pPr>
            <a:r>
              <a:rPr lang="en-US" sz="110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Aggregated by employee-year on completed training only; outliers clipped at the year-level P95 to prevent a few power-users from skewing results.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2" name="Google Shape;212;p7"/>
          <p:cNvCxnSpPr/>
          <p:nvPr/>
        </p:nvCxnSpPr>
        <p:spPr>
          <a:xfrm>
            <a:off x="457200" y="6446520"/>
            <a:ext cx="11277295" cy="0"/>
          </a:xfrm>
          <a:prstGeom prst="straightConnector1">
            <a:avLst/>
          </a:prstGeom>
          <a:noFill/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900"/>
              <a:buFont typeface="Montserrat"/>
              <a:buNone/>
            </a:pPr>
            <a:r>
              <a:rPr lang="en-US" sz="90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CACEIS x AlbertSchool  ·  Deliverable 2  ·  Human Capital Valuation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900"/>
              <a:buFont typeface="Montserrat"/>
              <a:buNone/>
            </a:pPr>
            <a:r>
              <a:rPr lang="en-US" sz="90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5" name="Google Shape;215;p7" title="image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8653" y="1726099"/>
            <a:ext cx="5393326" cy="345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8" descr="/Users/jadkabbaj/Desktop/Projects/AS CACEIS/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7255" y="320040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8"/>
          <p:cNvSpPr/>
          <p:nvPr/>
        </p:nvSpPr>
        <p:spPr>
          <a:xfrm>
            <a:off x="457200" y="411480"/>
            <a:ext cx="73152" cy="1508760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685800" y="457200"/>
            <a:ext cx="1280160" cy="292608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685800" y="4572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lang="en-US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KPI 04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685800" y="841248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Montserrat"/>
              <a:buNone/>
            </a:pPr>
            <a:r>
              <a:rPr lang="en-US" sz="280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Absence Productivity Drag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685800" y="18288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1250"/>
              <a:buFont typeface="Montserrat"/>
              <a:buNone/>
            </a:pPr>
            <a:r>
              <a:rPr lang="en-US" sz="125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Translating absenteeism days into lost productive</a:t>
            </a:r>
            <a:endParaRPr sz="1250">
              <a:solidFill>
                <a:srgbClr val="6F6F6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1250"/>
              <a:buFont typeface="Montserrat"/>
              <a:buNone/>
            </a:pPr>
            <a:r>
              <a:rPr lang="en-US" sz="125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 capacity and euros of value lost.</a:t>
            </a:r>
            <a:endParaRPr sz="12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457200" y="2468880"/>
            <a:ext cx="4572000" cy="1828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685800" y="261518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900"/>
              <a:buFont typeface="Montserrat"/>
              <a:buNone/>
            </a:pPr>
            <a:r>
              <a:rPr lang="en-US" sz="120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FORMULA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685800" y="2971800"/>
            <a:ext cx="41148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onsolas"/>
              <a:buNone/>
            </a:pPr>
            <a:r>
              <a:rPr lang="en-US" sz="1250" b="1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Lost FTE         = Absence Days / 220</a:t>
            </a:r>
            <a:endParaRPr sz="12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onsolas"/>
              <a:buNone/>
            </a:pPr>
            <a:r>
              <a:rPr lang="en-US" sz="1250" b="1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Drag             = Lost FTE / Average FTE</a:t>
            </a:r>
            <a:endParaRPr sz="12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onsolas"/>
              <a:buNone/>
            </a:pPr>
            <a:r>
              <a:rPr lang="en-US" sz="1250" b="1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Value Lost (€)   = Lost FTE × HCVA per FTE</a:t>
            </a:r>
            <a:endParaRPr sz="12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None/>
            </a:pPr>
            <a:endParaRPr sz="12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onsolas"/>
              <a:buNone/>
            </a:pPr>
            <a:r>
              <a:rPr lang="en-US" sz="1250" b="1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Aggregated by month, entity, reason, employee.</a:t>
            </a:r>
            <a:endParaRPr sz="12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457200" y="4462272"/>
            <a:ext cx="4572000" cy="19385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685800" y="4608576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900"/>
              <a:buFont typeface="Montserrat"/>
              <a:buNone/>
            </a:pPr>
            <a:r>
              <a:rPr lang="en-US" sz="90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WHY DOES IT MATTER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685800" y="4919472"/>
            <a:ext cx="4114800" cy="138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Montserrat"/>
              <a:buChar char="■"/>
            </a:pPr>
            <a:r>
              <a:rPr lang="en-US" sz="100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Bridges HR (absence days) and Finance (HCVA per FTE) into a single euro number leadership can act on.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Montserrat"/>
              <a:buChar char="■"/>
            </a:pPr>
            <a:r>
              <a:rPr lang="en-US" sz="100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Splits drag by reason — sickness, parental, work-related — so action plans target the right driver.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Montserrat"/>
              <a:buChar char="■"/>
            </a:pPr>
            <a:r>
              <a:rPr lang="en-US" sz="100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Reveals the true cost of a 1-percentage-point change in absence rate.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Montserrat"/>
              <a:buChar char="■"/>
            </a:pPr>
            <a:r>
              <a:rPr lang="en-US" sz="100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Inputs feed sizing of replacement, prevention and well-being investments.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5257800" y="5330952"/>
            <a:ext cx="6476695" cy="1069848"/>
          </a:xfrm>
          <a:prstGeom prst="rect">
            <a:avLst/>
          </a:prstGeom>
          <a:solidFill>
            <a:srgbClr val="FBF7F4"/>
          </a:solidFill>
          <a:ln w="9525" cap="flat" cmpd="sng">
            <a:solidFill>
              <a:srgbClr val="ECE4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5257800" y="5330952"/>
            <a:ext cx="64008" cy="1069848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5486400" y="5440680"/>
            <a:ext cx="611093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900"/>
              <a:buFont typeface="Montserrat"/>
              <a:buNone/>
            </a:pPr>
            <a:r>
              <a:rPr lang="en-US" sz="90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KEY INSIGHT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5486400" y="5715000"/>
            <a:ext cx="6110935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Montserrat"/>
              <a:buNone/>
            </a:pPr>
            <a:r>
              <a:rPr lang="en-US" sz="110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Absence loaders auto-detect sheet/header variations across 2023, 2024 and 2025 files — the same drag definition is applied consistently across all three years.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7" name="Google Shape;237;p8"/>
          <p:cNvCxnSpPr/>
          <p:nvPr/>
        </p:nvCxnSpPr>
        <p:spPr>
          <a:xfrm>
            <a:off x="457200" y="6446520"/>
            <a:ext cx="11277295" cy="0"/>
          </a:xfrm>
          <a:prstGeom prst="straightConnector1">
            <a:avLst/>
          </a:prstGeom>
          <a:noFill/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8" name="Google Shape;238;p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900"/>
              <a:buFont typeface="Montserrat"/>
              <a:buNone/>
            </a:pPr>
            <a:r>
              <a:rPr lang="en-US" sz="90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CACEIS x AlbertSchool  ·  Deliverable 2  ·  Human Capital Valuation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900"/>
              <a:buFont typeface="Montserrat"/>
              <a:buNone/>
            </a:pPr>
            <a:r>
              <a:rPr lang="en-US" sz="90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0" name="Google Shape;240;p8" title="image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8625" y="1528445"/>
            <a:ext cx="5791816" cy="353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9" descr="/Users/jadkabbaj/Desktop/Projects/AS CACEIS/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7255" y="320040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9"/>
          <p:cNvSpPr/>
          <p:nvPr/>
        </p:nvSpPr>
        <p:spPr>
          <a:xfrm>
            <a:off x="457200" y="411480"/>
            <a:ext cx="73152" cy="1508760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685800" y="457200"/>
            <a:ext cx="1280160" cy="292608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685800" y="45720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lang="en-US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KPI 05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685800" y="841248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Montserrat"/>
              <a:buNone/>
            </a:pPr>
            <a:r>
              <a:rPr lang="en-US" sz="280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Role Cost Efficiency Index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685800" y="18288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1250"/>
              <a:buFont typeface="Montserrat"/>
              <a:buNone/>
            </a:pPr>
            <a:r>
              <a:rPr lang="en-US" sz="125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Are we paying the right price for the performance each </a:t>
            </a:r>
            <a:endParaRPr sz="1250">
              <a:solidFill>
                <a:srgbClr val="6F6F6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1250"/>
              <a:buFont typeface="Montserrat"/>
              <a:buNone/>
            </a:pPr>
            <a:r>
              <a:rPr lang="en-US" sz="125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role delivers?</a:t>
            </a:r>
            <a:endParaRPr sz="12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457200" y="2468880"/>
            <a:ext cx="4572000" cy="1828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685800" y="2552363"/>
            <a:ext cx="4114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900"/>
              <a:buFont typeface="Montserrat"/>
              <a:buNone/>
            </a:pPr>
            <a:r>
              <a:rPr lang="en-US" sz="100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FORMULA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685800" y="2908979"/>
            <a:ext cx="4114800" cy="11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onsolas"/>
              <a:buNone/>
            </a:pPr>
            <a:r>
              <a:rPr lang="en-US" sz="1050" b="1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Role Comp Index =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onsolas"/>
              <a:buNone/>
            </a:pPr>
            <a:r>
              <a:rPr lang="en-US" sz="1050" b="1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  Avg Total Comp / Median Comp (country-year)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onsolas"/>
              <a:buNone/>
            </a:pPr>
            <a:r>
              <a:rPr lang="en-US" sz="1050" b="1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Role Cost Efficiency =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onsolas"/>
              <a:buNone/>
            </a:pPr>
            <a:r>
              <a:rPr lang="en-US" sz="1050" b="1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  Normalized Performance / Role Comp Index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950"/>
              <a:buFont typeface="Montserrat"/>
              <a:buNone/>
            </a:pP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onsolas"/>
              <a:buNone/>
            </a:pPr>
            <a:r>
              <a:rPr lang="en-US" sz="1050" b="1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Quadrants: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10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onsolas"/>
              <a:buNone/>
            </a:pPr>
            <a:r>
              <a:rPr lang="en-US" sz="1050" b="1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Strategic · Efficiency · Retention · Low-Impact</a:t>
            </a:r>
            <a:endParaRPr sz="105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457200" y="4462272"/>
            <a:ext cx="4572000" cy="19385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685800" y="4608576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900"/>
              <a:buFont typeface="Montserrat"/>
              <a:buNone/>
            </a:pPr>
            <a:r>
              <a:rPr lang="en-US" sz="90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WHY DOES IT MATTER ?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685800" y="4856651"/>
            <a:ext cx="4114800" cy="1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925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Montserrat"/>
              <a:buChar char="■"/>
            </a:pPr>
            <a:r>
              <a:rPr lang="en-US" sz="1100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Detects pay/performance misalignments at role level  without ever touching individual salaries.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9250" algn="l" rtl="0">
              <a:spcBef>
                <a:spcPts val="30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Montserrat"/>
              <a:buChar char="■"/>
            </a:pPr>
            <a:r>
              <a:rPr lang="en-US" sz="1100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Retention-risk roles (low cost · high performance) flagged before they leave for competitors.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9250" algn="l" rtl="0">
              <a:spcBef>
                <a:spcPts val="30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Montserrat"/>
              <a:buChar char="■"/>
            </a:pPr>
            <a:r>
              <a:rPr lang="en-US" sz="1100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Efficiency-risk roles (high cost · low performance) flagged for re-scoping or repricing.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9250" algn="l" rtl="0">
              <a:spcBef>
                <a:spcPts val="30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Montserrat"/>
              <a:buChar char="■"/>
            </a:pPr>
            <a:r>
              <a:rPr lang="en-US" sz="1100" dirty="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Comparable across France and Luxembourg via country-year median normalization.</a:t>
            </a:r>
            <a:endParaRPr sz="11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5257800" y="5330952"/>
            <a:ext cx="6476695" cy="1069848"/>
          </a:xfrm>
          <a:prstGeom prst="rect">
            <a:avLst/>
          </a:prstGeom>
          <a:solidFill>
            <a:srgbClr val="FBF7F4"/>
          </a:solidFill>
          <a:ln w="9525" cap="flat" cmpd="sng">
            <a:solidFill>
              <a:srgbClr val="ECE4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5257800" y="5330952"/>
            <a:ext cx="64008" cy="1069848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5486400" y="5440680"/>
            <a:ext cx="611093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900"/>
              <a:buFont typeface="Montserrat"/>
              <a:buNone/>
            </a:pPr>
            <a:r>
              <a:rPr lang="en-US" sz="90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KEY INSIGHT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5486400" y="5715000"/>
            <a:ext cx="6110935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Montserrat"/>
              <a:buNone/>
            </a:pPr>
            <a:r>
              <a:rPr lang="en-US" sz="110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Compensation is treated as a role-level benchmark, never as individual salary — a deliberate ethical and GDPR boundary.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62" name="Google Shape;262;p9"/>
          <p:cNvCxnSpPr/>
          <p:nvPr/>
        </p:nvCxnSpPr>
        <p:spPr>
          <a:xfrm>
            <a:off x="457200" y="6446520"/>
            <a:ext cx="11277295" cy="0"/>
          </a:xfrm>
          <a:prstGeom prst="straightConnector1">
            <a:avLst/>
          </a:prstGeom>
          <a:noFill/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3" name="Google Shape;263;p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900"/>
              <a:buFont typeface="Montserrat"/>
              <a:buNone/>
            </a:pPr>
            <a:r>
              <a:rPr lang="en-US" sz="90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CACEIS x AlbertSchool  ·  Deliverable 2  ·  Human Capital Valuation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900"/>
              <a:buFont typeface="Montserrat"/>
              <a:buNone/>
            </a:pPr>
            <a:r>
              <a:rPr lang="en-US" sz="90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9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5" name="Google Shape;265;p9" title="image (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1225" y="1263775"/>
            <a:ext cx="6166973" cy="390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10" descr="/Users/jadkabbaj/Desktop/Projects/AS CACEIS/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7255" y="320040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0"/>
          <p:cNvSpPr/>
          <p:nvPr/>
        </p:nvSpPr>
        <p:spPr>
          <a:xfrm>
            <a:off x="457200" y="411480"/>
            <a:ext cx="73152" cy="1508760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685800" y="457200"/>
            <a:ext cx="1860804" cy="292608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685800" y="457200"/>
            <a:ext cx="186080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</a:pPr>
            <a:r>
              <a:rPr lang="en-US" sz="9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04  ·  NEXT STEPS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685800" y="841248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Montserrat"/>
              <a:buNone/>
            </a:pPr>
            <a:r>
              <a:rPr lang="en-US" sz="280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Governance, AI roadmap and recommendations.</a:t>
            </a:r>
            <a:endParaRPr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685800" y="18288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1250"/>
              <a:buFont typeface="Montserrat"/>
              <a:buNone/>
            </a:pPr>
            <a:r>
              <a:rPr lang="en-US" sz="125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How we keep the framework trustworthy, how AI extends it, and what CACEIS should do with the first findings.</a:t>
            </a:r>
            <a:endParaRPr sz="12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457200" y="2514600"/>
            <a:ext cx="3637178" cy="38404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457200" y="2514600"/>
            <a:ext cx="73152" cy="3840480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685800" y="2715768"/>
            <a:ext cx="327141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950"/>
              <a:buFont typeface="Montserrat"/>
              <a:buNone/>
            </a:pPr>
            <a:r>
              <a:rPr lang="en-US" sz="95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GOVERNANCE &amp; ETHICS</a:t>
            </a: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685800" y="3017520"/>
            <a:ext cx="327141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Montserrat"/>
              <a:buNone/>
            </a:pPr>
            <a:r>
              <a:rPr lang="en-US" sz="180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Trust by design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685800" y="3566160"/>
            <a:ext cx="3271418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Montserrat"/>
              <a:buChar char="■"/>
            </a:pPr>
            <a:r>
              <a:rPr lang="en-US" sz="105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GDPR</a:t>
            </a:r>
            <a:r>
              <a:rPr lang="en-US" sz="105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: pseudonymized IDs, role-level compensation only, no PII in outputs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Montserrat"/>
              <a:buChar char="■"/>
            </a:pPr>
            <a:r>
              <a:rPr lang="en-US" sz="105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Data quality framework</a:t>
            </a:r>
            <a:r>
              <a:rPr lang="en-US" sz="105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:  schema validation, freshness checks, missing-value rules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Montserrat"/>
              <a:buChar char="■"/>
            </a:pPr>
            <a:r>
              <a:rPr lang="en-US" sz="105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Bias mitigation</a:t>
            </a:r>
            <a:r>
              <a:rPr lang="en-US" sz="105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:  country-year normalization, P95 clipping, fairness checks across gender/age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Montserrat"/>
              <a:buChar char="■"/>
            </a:pPr>
            <a:r>
              <a:rPr lang="en-US" sz="105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Explainability</a:t>
            </a:r>
            <a:r>
              <a:rPr lang="en-US" sz="105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: every score decomposable into named risk components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Montserrat"/>
              <a:buChar char="■"/>
            </a:pPr>
            <a:r>
              <a:rPr lang="en-US" sz="105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Human-in-the-loop</a:t>
            </a:r>
            <a:r>
              <a:rPr lang="en-US" sz="105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: HR validates flagged employees before any action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4277258" y="2514600"/>
            <a:ext cx="3637178" cy="38404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4277258" y="2514600"/>
            <a:ext cx="73152" cy="3840480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4505858" y="2715768"/>
            <a:ext cx="327141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950"/>
              <a:buFont typeface="Montserrat"/>
              <a:buNone/>
            </a:pPr>
            <a:r>
              <a:rPr lang="en-US" sz="95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AI ROADMAP</a:t>
            </a: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4505858" y="3017520"/>
            <a:ext cx="327141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Montserrat"/>
              <a:buNone/>
            </a:pPr>
            <a:r>
              <a:rPr lang="en-US" sz="180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From rules to learning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4505858" y="3566160"/>
            <a:ext cx="3271418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Montserrat"/>
              <a:buChar char="■"/>
            </a:pPr>
            <a:r>
              <a:rPr lang="en-US" sz="105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Attrition model</a:t>
            </a:r>
            <a:r>
              <a:rPr lang="en-US" sz="105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: gradient boosting on Left_Next_6M, calibrated probabilities replacing the rule-based score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Montserrat"/>
              <a:buChar char="■"/>
            </a:pPr>
            <a:r>
              <a:rPr lang="en-US" sz="105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SHAP explanations</a:t>
            </a:r>
            <a:r>
              <a:rPr lang="en-US" sz="105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: per-employee drivers exposed to HRBPs, no black box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Montserrat"/>
              <a:buChar char="■"/>
            </a:pPr>
            <a:r>
              <a:rPr lang="en-US" sz="105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Training-impact uplift</a:t>
            </a:r>
            <a:r>
              <a:rPr lang="en-US" sz="105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: causal model isolating training effect on performance vs. selection bias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Montserrat"/>
              <a:buChar char="■"/>
            </a:pPr>
            <a:r>
              <a:rPr lang="en-US" sz="105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Forecasting</a:t>
            </a:r>
            <a:r>
              <a:rPr lang="en-US" sz="105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: HCVA / FTE projection under absence and attrition scenarios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Montserrat"/>
              <a:buChar char="■"/>
            </a:pPr>
            <a:r>
              <a:rPr lang="en-US" sz="105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LLM-assisted insight layer</a:t>
            </a:r>
            <a:r>
              <a:rPr lang="en-US" sz="105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: natural-language summaries for the dashboard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8097317" y="2514600"/>
            <a:ext cx="3637178" cy="384048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12700" dir="5400000" algn="bl" rotWithShape="0">
              <a:srgbClr val="000000">
                <a:alpha val="5098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8097317" y="2514600"/>
            <a:ext cx="73152" cy="3840480"/>
          </a:xfrm>
          <a:prstGeom prst="rect">
            <a:avLst/>
          </a:prstGeom>
          <a:solidFill>
            <a:srgbClr val="A81C36"/>
          </a:solidFill>
          <a:ln w="12700" cap="flat" cmpd="sng">
            <a:solidFill>
              <a:srgbClr val="A81C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8325917" y="2715768"/>
            <a:ext cx="327141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1C36"/>
              </a:buClr>
              <a:buSzPts val="950"/>
              <a:buFont typeface="Montserrat"/>
              <a:buNone/>
            </a:pPr>
            <a:r>
              <a:rPr lang="en-US" sz="950" b="1">
                <a:solidFill>
                  <a:srgbClr val="A81C36"/>
                </a:solidFill>
                <a:latin typeface="Montserrat"/>
                <a:ea typeface="Montserrat"/>
                <a:cs typeface="Montserrat"/>
                <a:sym typeface="Montserrat"/>
              </a:rPr>
              <a:t>KEY INSIGHTS</a:t>
            </a:r>
            <a:endParaRPr sz="9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8325917" y="3017520"/>
            <a:ext cx="327141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800"/>
              <a:buFont typeface="Montserrat"/>
              <a:buNone/>
            </a:pPr>
            <a:r>
              <a:rPr lang="en-US" sz="180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What CACEIS should do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8325917" y="3566160"/>
            <a:ext cx="3271418" cy="2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Montserrat"/>
              <a:buChar char="■"/>
            </a:pPr>
            <a:r>
              <a:rPr lang="en-US" sz="105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HCVA per FTE trend establishes a productivity baseline</a:t>
            </a:r>
            <a:r>
              <a:rPr lang="en-US" sz="105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: track quarterly, not yearly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Montserrat"/>
              <a:buChar char="■"/>
            </a:pPr>
            <a:r>
              <a:rPr lang="en-US" sz="105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Attrition risk is concentrated in identifiable segments</a:t>
            </a:r>
            <a:r>
              <a:rPr lang="en-US" sz="105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:  target retention spend, don't spread it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Montserrat"/>
              <a:buChar char="■"/>
            </a:pPr>
            <a:r>
              <a:rPr lang="en-US" sz="105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Training shows non-zero, non-uniform impact on performance</a:t>
            </a:r>
            <a:r>
              <a:rPr lang="en-US" sz="105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:  double down on programs that move the needle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Montserrat"/>
              <a:buChar char="■"/>
            </a:pPr>
            <a:r>
              <a:rPr lang="en-US" sz="105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Absence drag</a:t>
            </a:r>
            <a:r>
              <a:rPr lang="en-US" sz="105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 is large enough to reframe well-being investment as ROI-positive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Montserrat"/>
              <a:buChar char="■"/>
            </a:pPr>
            <a:r>
              <a:rPr lang="en-US" sz="1050" b="1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Role cost quadrants</a:t>
            </a:r>
            <a:r>
              <a:rPr lang="en-US" sz="1050">
                <a:solidFill>
                  <a:srgbClr val="2B2B2B"/>
                </a:solidFill>
                <a:latin typeface="Montserrat"/>
                <a:ea typeface="Montserrat"/>
                <a:cs typeface="Montserrat"/>
                <a:sym typeface="Montserrat"/>
              </a:rPr>
              <a:t> reveal repricing and retention opportunities at role, not employee, level</a:t>
            </a:r>
            <a:endParaRPr sz="105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92" name="Google Shape;292;p10"/>
          <p:cNvCxnSpPr/>
          <p:nvPr/>
        </p:nvCxnSpPr>
        <p:spPr>
          <a:xfrm>
            <a:off x="457200" y="6446520"/>
            <a:ext cx="11277295" cy="0"/>
          </a:xfrm>
          <a:prstGeom prst="straightConnector1">
            <a:avLst/>
          </a:prstGeom>
          <a:noFill/>
          <a:ln w="9525" cap="flat" cmpd="sng">
            <a:solidFill>
              <a:srgbClr val="E6E2D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3" name="Google Shape;293;p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900"/>
              <a:buFont typeface="Montserrat"/>
              <a:buNone/>
            </a:pPr>
            <a:r>
              <a:rPr lang="en-US" sz="90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CACEIS x AlbertSchool  ·  Deliverable 2  ·  Human Capital Valuation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F6F6F"/>
              </a:buClr>
              <a:buSzPts val="900"/>
              <a:buFont typeface="Montserrat"/>
              <a:buNone/>
            </a:pPr>
            <a:r>
              <a:rPr lang="en-US" sz="900">
                <a:solidFill>
                  <a:srgbClr val="6F6F6F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1536</Words>
  <Application>Microsoft Macintosh PowerPoint</Application>
  <PresentationFormat>Widescreen</PresentationFormat>
  <Paragraphs>226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Consolas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CACEIS x AlbertSchool</dc:creator>
  <cp:lastModifiedBy>Jad Kabbaj</cp:lastModifiedBy>
  <cp:revision>1</cp:revision>
  <dcterms:created xsi:type="dcterms:W3CDTF">2026-04-29T21:30:40Z</dcterms:created>
  <dcterms:modified xsi:type="dcterms:W3CDTF">2026-04-30T10:02:06Z</dcterms:modified>
</cp:coreProperties>
</file>