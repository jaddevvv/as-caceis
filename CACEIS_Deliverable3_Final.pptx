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00"/>
  </p:normalViewPr>
  <p:slideViewPr>
    <p:cSldViewPr snapToGrid="0" snapToObjects="1">
      <p:cViewPr varScale="1">
        <p:scale>
          <a:sx n="154" d="100"/>
          <a:sy n="154" d="100"/>
        </p:scale>
        <p:origin x="80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612000"/>
            <a:ext cx="11113200" cy="28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81C36"/>
                </a:solidFill>
                <a:latin typeface="Calibri"/>
              </a:rPr>
              <a:t>DELIVERABLE 3  ·  FINAL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11132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2B2B2B"/>
                </a:solidFill>
                <a:latin typeface="Calibri"/>
              </a:rPr>
              <a:t>Valuing Human Capital</a:t>
            </a:r>
          </a:p>
          <a:p>
            <a:pPr>
              <a:lnSpc>
                <a:spcPct val="100000"/>
              </a:lnSpc>
            </a:pPr>
            <a:r>
              <a:rPr sz="4600" b="1">
                <a:solidFill>
                  <a:srgbClr val="A81C36"/>
                </a:solidFill>
                <a:latin typeface="Calibri"/>
              </a:rPr>
              <a:t>at CACEIS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880000"/>
            <a:ext cx="5556794" cy="551685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dirty="0">
                <a:solidFill>
                  <a:srgbClr val="6F6F6F"/>
                </a:solidFill>
                <a:latin typeface="Calibri"/>
              </a:rPr>
              <a:t>From a 5-KPI valuation framework to a calibrated AI decision layer for HRBPs and the steering committee.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3780000"/>
            <a:ext cx="4320000" cy="252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3960000"/>
            <a:ext cx="1111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2B2B"/>
                </a:solidFill>
                <a:latin typeface="Calibri"/>
              </a:rPr>
              <a:t>Audience: CACEIS business sponsors  ·  Format: Final report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320000"/>
            <a:ext cx="1111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F6F"/>
                </a:solidFill>
                <a:latin typeface="Calibri"/>
              </a:rPr>
              <a:t>AlbertSchool Hackathon  ·  CACEIS Investor Services  ·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040000"/>
            <a:ext cx="1111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2B2B"/>
                </a:solidFill>
                <a:latin typeface="Calibri"/>
              </a:rPr>
              <a:t>By Mohamed Jad KABBAJ · Femi FACIA · Jean-Baptiste BRUN · Ilyes KABBOUR</a:t>
            </a:r>
          </a:p>
        </p:txBody>
      </p:sp>
      <p:pic>
        <p:nvPicPr>
          <p:cNvPr id="1028" name="Picture 4" descr="CACEIS boosts asset servicing client satisfaction with Elgin White ...">
            <a:extLst>
              <a:ext uri="{FF2B5EF4-FFF2-40B4-BE49-F238E27FC236}">
                <a16:creationId xmlns:a16="http://schemas.microsoft.com/office/drawing/2014/main" id="{CCAE7294-9E90-B3E1-19B9-DDAFC140F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450" y="1378219"/>
            <a:ext cx="5300750" cy="397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2376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2376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01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What we built, and what it changes for CACEIS.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A finance-grade valuation framework, evolved into a calibrated AI layer that turns HR data into board-level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HCVA / FTE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€218.6 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HCROI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1.83×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ABSENCE DRAG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6.8 %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ATTRITION MODEL 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0.82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1079" y="2736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11079" y="2736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73079" y="2844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EVOLVED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079" y="3042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What changed since Deliverable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079" y="3402000"/>
            <a:ext cx="3492000" cy="2762547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We kept the five governed KPIs that already gave CACEIS a finance-grade view of human capital, then added a learning layer on top.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 gradient-boosting attrition model now scores every active employee with an interpretable probability of leaving in the next six months independently validated at AUC 0.82 on a held-out test set.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An unsupervised segmentation groups the workforce into five business-readable personas (Rising Stars, Loyal Anchors, New Joiners, Capability Builders, Disengagement Watch).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 recommendation engine turns each persona and risk score into a prioritized HR action sized in euros not a ranking, an action plan.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8899" y="2708547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18899" y="2708547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0899" y="2816547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WHAT IT UNLOCKS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899" y="3014547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What CACEIS gets from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899" y="3374547"/>
            <a:ext cx="3492000" cy="1954634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 common language between Finance and HR: every people decision is now expressible in HCVA per FTE and HCROI.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An anticipation horizon of three to six months on attrition risk long enough for a manager to act, short enough to stay accurate.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 retention budget that can be sized and defended: each program carries its indicative cost and the value it protects.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 governance-ready system: pseudonymized IDs, role-level (never individual) compensation, EU AI Act-aligned model card.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1728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1728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02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dirty="0">
                <a:solidFill>
                  <a:srgbClr val="2B2B2B"/>
                </a:solidFill>
                <a:latin typeface="Calibri"/>
              </a:rPr>
              <a:t>Reported as a cost. Should be valued as an asset.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Why standard HR reporting hides the financial value of people, and what changes when CACEIS measures it properly.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81970" y="1872000"/>
            <a:ext cx="3708000" cy="450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81970" y="1872000"/>
            <a:ext cx="54000" cy="450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43970" y="19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WHERE CACEIS STARTS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3970" y="2178000"/>
            <a:ext cx="3492000" cy="269557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Today the cost-center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3970" y="2538000"/>
            <a:ext cx="3492000" cy="2195084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People appear in the P&amp;L as expenses to control</a:t>
            </a:r>
            <a:r>
              <a:rPr lang="fr-FR" sz="1050" dirty="0">
                <a:solidFill>
                  <a:srgbClr val="2B2B2B"/>
                </a:solidFill>
                <a:latin typeface="Calibri"/>
              </a:rPr>
              <a:t> </a:t>
            </a:r>
            <a:r>
              <a:rPr sz="1050" dirty="0">
                <a:solidFill>
                  <a:srgbClr val="2B2B2B"/>
                </a:solidFill>
                <a:latin typeface="Calibri"/>
              </a:rPr>
              <a:t>: payroll, training, absenteeism, attrition, all reported in isolation.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Investments in training are tracked by hours delivered, never by performance moved.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Attrition is observed after the fact; the conversation happens during the notice period, not before.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Compensation is benchmarked locally, role by role, without a clear link to the financial value the role generates.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Net effect: HR ends up defending a budget line every quarter never a strategic lever.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5200" y="1872000"/>
            <a:ext cx="3708000" cy="450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05200" y="1872000"/>
            <a:ext cx="54000" cy="450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7200" y="19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WHERE THE FRAMEWORK TAKES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7200" y="2178000"/>
            <a:ext cx="3492000" cy="269557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Our framework the value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7200" y="2538000"/>
            <a:ext cx="3492000" cy="3002998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We treat the workforce as an asset that produces measurable financial value: HCVA, HCROI, value protected per euro invested.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Attrition is anticipated with a three-to-six-month lead time, with named drivers per employee interventions become possible.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Training is measured against learner satisfaction, cold-impact survey response and EAE performance, not just attendance.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Absence days are converted into euros at the prevailing HCVA per FTE wellbeing investment becomes ROI-positive by construction.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Role compensation is benchmarked to performance at role level, never at individual level a deliberate ethical and GDPR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1728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1728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03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From raw CACEIS sources to a governed AI decision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A reproducible Python pipeline, five gold tables, then a learning layer that scores, segments and recommends.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STEP 1 ·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2574000"/>
            <a:ext cx="2544300" cy="1791127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Finance P&amp;L and FTE workbooks (2022-2025).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HR master panel (</a:t>
            </a:r>
            <a:r>
              <a:rPr sz="1050" dirty="0" err="1">
                <a:solidFill>
                  <a:srgbClr val="2B2B2B"/>
                </a:solidFill>
                <a:latin typeface="Calibri"/>
              </a:rPr>
              <a:t>Data.xlsx</a:t>
            </a:r>
            <a:r>
              <a:rPr sz="1050" dirty="0">
                <a:solidFill>
                  <a:srgbClr val="2B2B2B"/>
                </a:solidFill>
                <a:latin typeface="Calibri"/>
              </a:rPr>
              <a:t> employee × month).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Absence files for FR and LU (2023-2025).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Training records, quick &amp; cold reviews.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EAE performance and compensation benchmark.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2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42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62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STEP 2 ·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6299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Header auto-detection across schema variants.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Employee ID and period harmonization.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FR / LU schema unification, reason coding.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Outlier clipping at year-level P95 to prevent skew.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Pseudonymized employee ID retained throughout.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85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5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05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STEP 3 · 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5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599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Five gold tables, one per KPI.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Single source of truth, single semantic layer.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Lineage and assumptions documented per pipeline.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Reproducible end-to-end on demand from one entry point.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8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28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48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STEP 4 · 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8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4899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Attrition gradient-boosting model (KPI 2 features).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K-Means workforce segmentation (5 personas).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Rule-based recommendation engine on risk × persona.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Steering-committee scenario simulator on HCVA / FTE.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1943999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1943999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04 ·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dirty="0">
                <a:solidFill>
                  <a:srgbClr val="2B2B2B"/>
                </a:solidFill>
                <a:latin typeface="Calibri"/>
              </a:rPr>
              <a:t>Five KPIs. Five lenses on human capital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Each KPI answers a distinct value question. Together they cover financial output, retention risk, capability, productivity loss and pay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01 · VALUE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HCVA / HCROI per FTE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2574000"/>
            <a:ext cx="1992240" cy="66581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Are employees creating more financial value than they cost?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Data: Finance × FTE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6239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7623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8240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02 · RETENTION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8240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Workforce Value-at-Risk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8240" y="2574000"/>
            <a:ext cx="1992240" cy="867798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Where do we risk losing human capital, before it leaves?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Data: Tenure × EAE × Absence ×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2479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9247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4479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03 ·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4479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Learning-to-Performance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4479" y="2690376"/>
            <a:ext cx="1992240" cy="66581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Does training translate into measurable performance?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Data: Training × Reviews × EAE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8720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0872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720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04 ·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720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Absence Productivity Drag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720" y="2574000"/>
            <a:ext cx="1992240" cy="66581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How much value do we lose to absence and how is that trending?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Data: Absence × HCVA per FTE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4959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2495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6959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05 · PAY 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6959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Role Cost Efficiency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6959" y="2574000"/>
            <a:ext cx="1992240" cy="66581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Is role cost aligned with role performance, country by country?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Data: Compensation × EAE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2268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2268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KPI 01 · HCVA / HCROI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The workforce is creating more value, year after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25288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6F6F6F"/>
                </a:solidFill>
                <a:latin typeface="Calibri"/>
              </a:rPr>
              <a:t>HCVA per FTE and HCROI both improved across the 2022-2025 window the per-employee productivity baseline is trending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HCVA / FTE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€218.6 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HCVA / FTE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€205.6 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Δ 4-YEAR (GROUP)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+6.3 %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HCROI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1.83×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0299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10299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72299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HEADLINE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299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What the numbers 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299" y="3438000"/>
            <a:ext cx="3492000" cy="235859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Each FTE generates €218.6k of HCVA in 2025, up from €205.6k in 2022 a steady value-per-head improvement of +6.3% over four years.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HCROI moved from 1.77× to 1.83×: every euro of personnel cost now creates €1.83 of value.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Revenue per FTE held its level (~€316k) while value-add per FTE grew a sign that operating costs were optimized faster than the workforce.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Restricted to the European scope, HCVA per FTE jumped to €259.8k in 2025 and HCROI to 1.87× the engine of the valuation framework.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8899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18899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0899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BUSINESS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899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Why this matters for CACEIS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899" y="3438000"/>
            <a:ext cx="3492000" cy="2156612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HCVA per FTE is the per-employee productivity benchmark every other KPI builds on track it quarterly, not yearly.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HCROI &gt; 1 every year of the panel a defensible argument when arbitrating between automation and headcount investment.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same number anchors the conversion of absence days into euros (KPI 4) and the ROI of retention spend (Evolved Prototype).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It is the metric we recommend exposing to ExCom alongside revenue per FTE in every quarterly business review.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456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456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KPI 02 · WORKFORCE VALUE-AT-RISK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A forward-looking risk score that is dropping over the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25288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6F6F6F"/>
                </a:solidFill>
                <a:latin typeface="Calibri"/>
              </a:rPr>
              <a:t>The risk score blends six interpretable signals and the trend in 2025 is favorable across all of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AVG RISK SCORE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0.31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HIGH-RISK SHARE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27 %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Δ VS. 2024 HIGH-RISK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-3.3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EMPLOYEES SCORED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8 185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8300" y="2736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18300" y="2736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80300" y="2844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WHAT WE SEE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0300" y="3042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Where the risk concentrates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0300" y="3402000"/>
            <a:ext cx="3492000" cy="256056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high-risk share dropped from a 2024 peak of 40.0% to 27.0% by Dec-2025 meaningful improvement on a comparable population.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Risk is concentrated in identifiable segments (specific entities, junior career stages, short tenure) rather than spread across the whole workforce.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That concentration is good news for budget owners: targeted interventions on a small number of segments will move the aggregate score.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score is built on six named drivers (tenure, performance, absence, training, time-in-post, segment risk) every alert is challengeable by HRBPs.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4899" y="2736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74899" y="2736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36899" y="2844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ACTION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6899" y="3042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Where to invest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6899" y="3402000"/>
            <a:ext cx="3492000" cy="256056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Junior career stages (interns, apprentices, working students) are the highest-risk job family a structured early-career conversion plan is the highest-leverage move.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International branches with smaller local HR coverage show higher average risk an opportunity to extend the same playbook used in CACEIS Bank France &amp; Luxembourg.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Long time-in-post employees with strong performance show up as the second priority this is a career-mobility play, not an attrition emergency.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These three segments together represent less than a quarter of the </a:t>
            </a:r>
            <a:r>
              <a:rPr lang="en-US" sz="1050" dirty="0">
                <a:solidFill>
                  <a:srgbClr val="2B2B2B"/>
                </a:solidFill>
                <a:latin typeface="Calibri"/>
              </a:rPr>
              <a:t>workforce,</a:t>
            </a:r>
            <a:r>
              <a:rPr sz="1050" dirty="0">
                <a:solidFill>
                  <a:srgbClr val="2B2B2B"/>
                </a:solidFill>
                <a:latin typeface="Calibri"/>
              </a:rPr>
              <a:t> but the bulk of the risk focused spend, large impact.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456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456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KPI 03 · LEARNING-TO-PERFORMANCE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Training quality is improving year after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25288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6F6F6F"/>
                </a:solidFill>
                <a:latin typeface="Calibri"/>
              </a:rPr>
              <a:t>We do not just count hours: cold-impact surveys and quick-review scores are both rising learners increasingly say the training 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COLD-IMPACT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0.68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COLD-IMPACT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0.75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QUICK-REVIEW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4.52 /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TRAINED SHARE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16 %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0299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10299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72299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WHAT IS 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299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What learners are telling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299" y="3438000"/>
            <a:ext cx="3492000" cy="2156612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cold-impact score (post-training survey of behavior change) climbed from 0.68 in 2023 to 0.75 in 2025 a 10% relative gain on the same 0–1 scale.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Quick-review satisfaction held above 4.5 / 5 across the whole panel learners consistently rate sessions positively.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Training hours correlate positively with EAE performance (+0.12) and with cold impact (+0.19) a small but directionally clear signal.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These trends suggest the catalog refresh and program selection done over the past two years are landing.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2900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72900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34900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BUSINESS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900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How to turn the index into a lever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900" y="3438000"/>
            <a:ext cx="3492000" cy="271799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Learning-to-Performance Index is the first metric that combines hours, satisfaction and cold-impact into a single decision number.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Use it to compare programs, not just employees: highest-impact programs deserve more seats, lower-impact ones deserve a redesign.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Treat it as the start of the L&amp;D budget conversation: every 0.05 gain in the index represents a documented capability uplift on a comparable population.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Combined with the Evolved Prototype's recommendation engine, the index pre-fills the program suggested for each persona.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671999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671999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KPI 04 · ABSENCE PRODUCTIVITY DRAG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Absence drag was nearly halved between 2023 and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25288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6F6F6F"/>
                </a:solidFill>
                <a:latin typeface="Calibri"/>
              </a:rPr>
              <a:t>Lost FTE dropped from 943 to 449 a sustained two-year improvement, valued in euros at the prevailing HCVA per FTE.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DRAG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14.8 %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DRAG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6.8 %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LOST FTE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449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ESTIMATED VALUE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€98.1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8300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18300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80300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0300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The two-year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0300" y="3438000"/>
            <a:ext cx="3492000" cy="235859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Absence productivity drag dropped from 14.8% of FTE in 2023 to 6.8% in 2025 a 54% relative reduction on a like-for-like definition.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Lost FTE shrank from ~943 to ~449 employees-worth of capacity per year a meaningful operational gain.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At the 2025 HCVA per FTE rate (€218.6k), the residual absence drag is worth ~€98M of latent value to recover or reallocate.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Most of the residual drag is concentrated in expected categories (annual leave, RTT) sickness and accident represent a small minority.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8899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18899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0899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BUSINESS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899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Why this is the most actionable 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899" y="3438000"/>
            <a:ext cx="3492000" cy="235859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Each percentage point of drag converted back into productive capacity is worth roughly €15M at current HCVA per FTE.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KPI cleanly separates legal absences (CDI / RTT) from sickness and accident investment can be targeted where it is plausible to act.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It bridges HR (absence days) and Finance (HCVA per FTE) into a single euro number that ExCom can act on without translation.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It is the lever the Evolved Prototype's scenario simulator uses to size wellbeing investments at HCVA-per-FTE-protected level.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131999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131999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KPI 05 · ROLE COST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A role-level lens for retention and strategic-investment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25288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6F6F6F"/>
                </a:solidFill>
                <a:latin typeface="Calibri"/>
              </a:rPr>
              <a:t>The index is benchmarked at role level, never at individual level an ethical and GDPR boundary we keep deliberately strict.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ROLES ANALYZED (FR + LU)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320+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PERFORMANCE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86 %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STRATEGIC HIGH-VALUE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84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RETENTION-FOCUS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4300" y="2826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64300" y="2826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26300" y="2934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QUADRANT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6300" y="3132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Strategic high-value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6300" y="3492000"/>
            <a:ext cx="3492000" cy="2762547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Around 84 roles across FR and LU sit in the “strategic high-value” quadrant high performance, performance well above their compensation index.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Examples include Group Data Project Manager, Currency Overlay Analyst, Senior Financial Lawyer, Group Communication Manager operational and expert roles where CACEIS gets visible payback.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These roles deserve protection: documented succession plans, deliberate cross-training, controlled pay progression to reflect their structural value.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Operational and middle-management roles where the methodology is most actionable; the C-suite is intentionally out-of-scope of this benchmark.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8899" y="2826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18899" y="2826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0899" y="2934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QUADRANT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899" y="3132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Retention-focus (rising-star)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899" y="3492000"/>
            <a:ext cx="3492000" cy="2560569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About 45 roles sit in the “high performance, lower relative cost” quadrant these are the rising stars of the operational base.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Top of the list in Luxembourg: Investor / Client Services Officer, Legal Advisor, Client KPI Analyst, Financial Risks Analyst, Accounting Controller (PERES).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Top of the list in France: Paralegal Officer, User Management Officer, UCITS Control Officer, Financing Analyst Middle Office (PERES).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These are high-payback retention investments visible to managers, low-cost to support, large value protected if they stay through the next promotion cycle.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131999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131999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05 · AI APPROACH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From rule-based scores to a calibrated, explainable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The Evolved Prototype keeps every existing KPI, then layers four interpretable AI capabilities on 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0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ATTRITION AUC (HELD-OUT)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0.82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2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23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TOP-DECILE LEAVER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23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≈ 50 %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5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66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LIFT VS. RANDOM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66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5×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899" y="1944000"/>
            <a:ext cx="2760300" cy="612000"/>
          </a:xfrm>
          <a:prstGeom prst="rect">
            <a:avLst/>
          </a:prstGeom>
          <a:solidFill>
            <a:srgbClr val="FFFFFF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900" y="2034000"/>
            <a:ext cx="2544300" cy="198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F6F6F"/>
                </a:solidFill>
                <a:latin typeface="Calibri"/>
              </a:rPr>
              <a:t>WORKFORCE PERSONAS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900" y="2214000"/>
            <a:ext cx="2544300" cy="342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81C36"/>
                </a:solidFill>
                <a:latin typeface="Calibri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4300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64300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26300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WHAT RUNS UNDER THE HOOD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6300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The four AI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6300" y="3438000"/>
            <a:ext cx="3492000" cy="2762547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Attrition predictor gradient-boosting classifier on Left_Next_6M; AUC of 0.82 on a held-out test set; calibrated probability per employee.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Workforce segmentation K-Means on tenure, training, absence, and performance; five business-readable personas (Rising Stars, Loyal Anchors, New Joiners, Capability Builders, Disengagement Watch).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Recommendation engine rule-based selector that maps each (persona × risk) pair to a prioritized HR action with indicative cost in euros and value protected.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Scenario simulator what-if HCVA per FTE under absence-cut and retention scenarios; combined scenario unlocks roughly €25M of latent value.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8899" y="2772000"/>
            <a:ext cx="3708000" cy="3456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18899" y="2772000"/>
            <a:ext cx="54000" cy="3456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0899" y="2880000"/>
            <a:ext cx="34920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BUSINESS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899" y="3078000"/>
            <a:ext cx="34920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Why business sponsors can trust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899" y="3438000"/>
            <a:ext cx="3492000" cy="235859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Validation is held-out: the AUC is measured on a 25% test set the model never saw not on the training data.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Targeting the predicted top decile catches roughly half of all leavers in the test window a 5× lift versus a uniform retention spend.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Top features (segment risk, tenure, time-in-post) corroborate HRBP intuition the model reinforces business judgment, it does not replace it.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Every predicted score is decomposable into the same six named drivers used in KPI 2: nothing in the model is a black box.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2591999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2591999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06 · GOVERNANCE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02761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dirty="0">
                <a:solidFill>
                  <a:srgbClr val="2B2B2B"/>
                </a:solidFill>
                <a:latin typeface="Calibri"/>
              </a:rPr>
              <a:t>Trust by design the only way People Analytics survives an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GDPR, EU AI Act, and the CACEIS internal control standard treated as design constraints, not as a final review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Pseudonymized employee IDs end-to-end.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Compensation only at role level, never individual.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No PII in dashboards, exports, or model outputs.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Minimum group size of five for any segment 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2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42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62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BIAS &amp;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Bias &amp;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6299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Country-year normalization in pay benchmarks.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Outlier clipping at year-level P95.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Documented missing-value strategy per pipeline.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Fairness checks across gender, age, contract type.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85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5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05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5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599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Every score decomposable into named drivers.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Rule-based fallback alongside the model.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Model card published per production model.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Human-in-the-loop on every individual decision.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8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28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48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EU AI ACT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8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Eu Ai Act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4899" y="2574000"/>
            <a:ext cx="254430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People Analytics classified as high-risk system.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DPIA required and supported for predictive use.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Annual algorithmic audit on the attrition model.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Works council consultation before any new data source.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240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240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07 ·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Five plays CACEIS can run on top of this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Each play is sized in euros and tied to the KPI or AI capability that produced the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PLAY 1 · ANCHOR HCVA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Track HCVA per FTE quarterly in ExCom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2815071"/>
            <a:ext cx="1992240" cy="1031304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Make HCVA per FTE the second productivity metric in the quarterly business review, alongside revenue per FTE it is the unit price the rest of the framework 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6239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7623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8240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PLAY 2 · TARGETED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8240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Concentrate retention spend on the top-risk decile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8240" y="2956386"/>
            <a:ext cx="199224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attrition model captures ~50% of leavers from 10% of the workforce. Move the retention budget from a uniform allocation to a top-decile allocation.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2479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9247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4479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PLAY 3 · WELLBEING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4479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Reframe wellbeing as a euro-positive investment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4479" y="2790131"/>
            <a:ext cx="199224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Each percentage point of absence drag converted back into capacity is worth ~€15M. Wellbeing programs deserve a Finance line, not just an HR 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8720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0872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720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PLAY 4 · L&amp;D RE-WEIGHT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720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Re-weight the L&amp;D catalog around cold-impact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720" y="2790130"/>
            <a:ext cx="1992240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Use the Learning-to-Performance Index to defund the bottom-quartile programs and double down on those moving cold-impact and EAE in the same direction.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4959" y="1908000"/>
            <a:ext cx="220824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2495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6959" y="2015999"/>
            <a:ext cx="199224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PLAY 5 · RISING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6959" y="2214000"/>
            <a:ext cx="199224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Protect the rising-star roles before competitors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6959" y="2948073"/>
            <a:ext cx="1992240" cy="1031304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The 45 rising-star roles in FR and LU are the highest-payback retention investment they are visible to managers and inexpensive to support.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2916000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2916000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08 ·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Three horizons. One coherent build-out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252886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6F6F6F"/>
                </a:solidFill>
                <a:latin typeface="Calibri"/>
              </a:rPr>
              <a:t>Each horizon is scoped to be deployable on its own value is captured at each step, not only at the 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08000"/>
            <a:ext cx="3728399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512399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 · 90 DAYS · QUICK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214000"/>
            <a:ext cx="3512399" cy="269557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90 DAYS Quick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2574000"/>
            <a:ext cx="3512399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Productize the five gold tables in the existing data warehouse.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Stand up the Streamlit AI Lab as a beta read-only tool for HRBPs.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Run the first ExCom HCVA-per-FTE review on Q1-2026 data.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Publish the model card for the attrition predictor.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2400" y="1908000"/>
            <a:ext cx="3728399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24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4399" y="2015999"/>
            <a:ext cx="3512399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3 · 6 MONTHS · INDUSTRIALIZE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4399" y="2214000"/>
            <a:ext cx="3512399" cy="269557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6 MONTHS Industrialize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399" y="2574000"/>
            <a:ext cx="3512399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Move pipelines onto the corporate data lakehouse with CDC connectors.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Wire SHAP per-employee explanations into the recommendation engine.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Add forecasting on HCVA / FTE under absence and attrition scenarios.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Set up the ethics committee and the annual algorithmic audit.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4799" y="1908000"/>
            <a:ext cx="3728399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47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799" y="2015999"/>
            <a:ext cx="3512399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6 · 12 MONTHS · EXTEND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799" y="2214000"/>
            <a:ext cx="3512399" cy="269557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12 MONTHS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799" y="2574000"/>
            <a:ext cx="3512399" cy="3582000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Plug external benchmarks: compensation surveys, peer ESRS S1 filings.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Add the client-retention-to-employee-retention correlation per servicing line.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Add an LLM-assisted insight layer for natural-language summaries.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>
                <a:solidFill>
                  <a:srgbClr val="2B2B2B"/>
                </a:solidFill>
                <a:latin typeface="Calibri"/>
              </a:rPr>
              <a:t>•  Open a controlled API to expose KPIs to managers in their daily tools.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000" y="360000"/>
            <a:ext cx="3131999" cy="234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3131999" cy="234000"/>
          </a:xfrm>
          <a:prstGeom prst="rect">
            <a:avLst/>
          </a:prstGeom>
          <a:noFill/>
        </p:spPr>
        <p:txBody>
          <a:bodyPr wrap="square" lIns="18000" tIns="18000" r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09 · EXTERNAL DATA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66000"/>
            <a:ext cx="11473200" cy="57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B2B2B"/>
                </a:solidFill>
                <a:latin typeface="Calibri"/>
              </a:rPr>
              <a:t>Four families of external data that would lift the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42000"/>
            <a:ext cx="11473200" cy="36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Calibri"/>
              </a:rPr>
              <a:t>Each one extends a specific KPI from a CACEIS-only view to a peer-calibrated view, the way Finance benchmarks are already calibrated.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0000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01 · COMPENSATION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Mercer, WTW, McLagan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000" y="2574000"/>
            <a:ext cx="2544300" cy="829326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Anchors KPI 5 to a financial-services pay benchmark by job family and seniority the role-cost-efficiency lens stops being self-referential.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2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42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62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02 · LABOR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B2B2B"/>
                </a:solidFill>
                <a:latin typeface="Calibri"/>
              </a:rPr>
              <a:t>LinkedIn Talent Insights, </a:t>
            </a:r>
            <a:r>
              <a:rPr sz="1400" b="1" dirty="0" err="1">
                <a:solidFill>
                  <a:srgbClr val="2B2B2B"/>
                </a:solidFill>
                <a:latin typeface="Calibri"/>
              </a:rPr>
              <a:t>Lightcast</a:t>
            </a:r>
            <a:r>
              <a:rPr sz="1400" b="1" dirty="0">
                <a:solidFill>
                  <a:srgbClr val="2B2B2B"/>
                </a:solidFill>
                <a:latin typeface="Calibri"/>
              </a:rPr>
              <a:t>, </a:t>
            </a:r>
            <a:r>
              <a:rPr sz="1400" b="1" dirty="0" err="1">
                <a:solidFill>
                  <a:srgbClr val="2B2B2B"/>
                </a:solidFill>
                <a:latin typeface="Calibri"/>
              </a:rPr>
              <a:t>Revelio</a:t>
            </a:r>
            <a:endParaRPr sz="1400" b="1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6299" y="2773504"/>
            <a:ext cx="2544300" cy="627347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Brings external attrition pressure into KPI 2 competitor hiring tempo and salary pressure become inputs, not narratives.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85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5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05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03 · SKILLS TAXONOMY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5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ESCO + SFIA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599" y="2574000"/>
            <a:ext cx="2544300" cy="829326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Standardizes training and EAE skills tags into a market-comparable taxonomy KPI 3 becomes a skills-gap index, not just a training-impact index.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899" y="1908000"/>
            <a:ext cx="2760300" cy="4320000"/>
          </a:xfrm>
          <a:prstGeom prst="rect">
            <a:avLst/>
          </a:prstGeom>
          <a:solidFill>
            <a:srgbClr val="F7F5F2"/>
          </a:solidFill>
          <a:ln>
            <a:solidFill>
              <a:srgbClr val="E6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2899" y="1908000"/>
            <a:ext cx="54000" cy="4320000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4899" y="2015999"/>
            <a:ext cx="2544300" cy="180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A81C36"/>
                </a:solidFill>
                <a:latin typeface="Calibri"/>
              </a:rPr>
              <a:t>04 · PEER DISCLOSURES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899" y="2214000"/>
            <a:ext cx="2544300" cy="324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  <a:latin typeface="Calibri"/>
              </a:rPr>
              <a:t>BNP Paribas, SocGen, BNY, State Street CSRD ESRS S1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4899" y="2773504"/>
            <a:ext cx="2544300" cy="829326"/>
          </a:xfrm>
          <a:prstGeom prst="rect">
            <a:avLst/>
          </a:prstGeom>
          <a:noFill/>
        </p:spPr>
        <p:txBody>
          <a:bodyPr wrap="square" lIns="18000" tIns="18000" r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dirty="0">
                <a:solidFill>
                  <a:srgbClr val="2B2B2B"/>
                </a:solidFill>
                <a:latin typeface="Calibri"/>
              </a:rPr>
              <a:t>•  Makes every Tier 1 disclosure peer-comparable feeds an internal CACEIS Human Capital Factor score for investor communication.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3200" cy="125999"/>
          </a:xfrm>
          <a:prstGeom prst="rect">
            <a:avLst/>
          </a:prstGeom>
          <a:solidFill>
            <a:srgbClr val="A8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000" y="6552000"/>
            <a:ext cx="114732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CACEIS x AlbertSchool · Deliverable 3 · Human Capital Valuation Final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3200" y="6552000"/>
            <a:ext cx="720000" cy="216000"/>
          </a:xfrm>
          <a:prstGeom prst="rect">
            <a:avLst/>
          </a:prstGeom>
          <a:noFill/>
        </p:spPr>
        <p:txBody>
          <a:bodyPr wrap="square" lIns="18000" tIns="18000" rIns="18000" bIns="180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6F6F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3616</Words>
  <Application>Microsoft Macintosh PowerPoint</Application>
  <PresentationFormat>Custom</PresentationFormat>
  <Paragraphs>346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Jad Kabbaj</cp:lastModifiedBy>
  <cp:revision>8</cp:revision>
  <dcterms:created xsi:type="dcterms:W3CDTF">2013-01-27T09:14:16Z</dcterms:created>
  <dcterms:modified xsi:type="dcterms:W3CDTF">2026-05-06T21:15:06Z</dcterms:modified>
  <cp:category/>
</cp:coreProperties>
</file>